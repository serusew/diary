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3" r:id="rId6"/>
    <p:sldId id="264" r:id="rId7"/>
    <p:sldId id="265" r:id="rId8"/>
  </p:sldIdLst>
  <p:sldSz cx="12192000" cy="6858000"/>
  <p:notesSz cx="6858000" cy="9144000"/>
  <p:embeddedFontLst>
    <p:embeddedFont>
      <p:font typeface="Roboto" panose="02000000000000000000" pitchFamily="2" charset="0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A709"/>
    <a:srgbClr val="04062A"/>
    <a:srgbClr val="030048"/>
    <a:srgbClr val="FF84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5C4AC55-5D1E-4597-BDF1-AA6051E4D528}">
  <a:tblStyle styleId="{35C4AC55-5D1E-4597-BDF1-AA6051E4D52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09" autoAdjust="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581025" y="390525"/>
            <a:ext cx="1102995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АВТОНОМНАЯ НЕКОММЕРЧЕСКАЯ ОРГАНИЗАЦИЯ</a:t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ПРОФЕССИОНАЛЬНАЯ ОБРАЗОВАТЕЛЬНАЯ ОРГАНИЗАЦИЯ</a:t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МОСКОВСКИЙ МЕЖДУНАРОДНЫЙ КОЛЛЕДЖ ЦИФРОВЫХ</a:t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ТЕХНОЛОГИЙ «АКАДЕМИЯ ТОП»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581025" y="1952625"/>
            <a:ext cx="1102995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581025" y="2362200"/>
            <a:ext cx="11029950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50" b="1" dirty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Кроссплатформенное приложение «</a:t>
            </a:r>
            <a:r>
              <a:rPr lang="en-US" sz="2550" b="1" dirty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My Diary</a:t>
            </a:r>
            <a:r>
              <a:rPr lang="ru-RU" sz="2550" b="1" dirty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»</a:t>
            </a:r>
            <a:endParaRPr dirty="0">
              <a:solidFill>
                <a:srgbClr val="FFA709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81025" y="6286500"/>
            <a:ext cx="1102995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Иркутск</a:t>
            </a:r>
            <a:r>
              <a:rPr lang="en-US" sz="12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2026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7938655" y="4533900"/>
            <a:ext cx="415472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Выполнил</a:t>
            </a:r>
            <a:r>
              <a:rPr lang="ru-RU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ru-RU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Рощинина Милена 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Вячеславовна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7938654" y="4891346"/>
            <a:ext cx="366400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500" b="0" i="0" u="none" strike="noStrike" cap="none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Группа: </a:t>
            </a: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РПО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7946966" y="5536276"/>
            <a:ext cx="424503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Руководитель: </a:t>
            </a: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Концевич Андрей Алексеевич</a:t>
            </a:r>
            <a:endParaRPr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/>
        </p:nvSpPr>
        <p:spPr>
          <a:xfrm>
            <a:off x="556953" y="498763"/>
            <a:ext cx="11329822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Цель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,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задачи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проектного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проектирования</a:t>
            </a:r>
            <a:endParaRPr dirty="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564400" y="1702377"/>
            <a:ext cx="11029950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Цель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проектного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проектирования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: </a:t>
            </a:r>
            <a:endParaRPr lang="ru-RU" sz="1500" b="1" i="0" u="none" strike="noStrike" cap="none" dirty="0">
              <a:solidFill>
                <a:srgbClr val="FFA709"/>
              </a:solidFill>
              <a:latin typeface="Roboto" charset="0"/>
              <a:ea typeface="Roboto" charset="0"/>
              <a:cs typeface="Arial" pitchFamily="34" charset="0"/>
              <a:sym typeface="Roboto"/>
            </a:endParaRPr>
          </a:p>
          <a:p>
            <a:pPr lvl="0">
              <a:lnSpc>
                <a:spcPct val="140000"/>
              </a:lnSpc>
            </a:pPr>
            <a:r>
              <a:rPr lang="ru-RU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Создание автономного кроссплатформенного  для автоматизации процесса ведения личных записей.</a:t>
            </a:r>
            <a:endParaRPr sz="1500" dirty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564400" y="2585258"/>
            <a:ext cx="1102995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Задачи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проектного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проектирования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:</a:t>
            </a:r>
            <a:endParaRPr>
              <a:solidFill>
                <a:srgbClr val="FFA709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1011382" y="2984269"/>
            <a:ext cx="10574655" cy="1637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lvl="2">
              <a:lnSpc>
                <a:spcPct val="140000"/>
              </a:lnSpc>
            </a:pP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Roboto" charset="0"/>
                <a:ea typeface="Roboto" charset="0"/>
              </a:rPr>
              <a:t>- </a:t>
            </a:r>
            <a:r>
              <a:rPr lang="en-US" sz="1600" dirty="0">
                <a:solidFill>
                  <a:schemeClr val="tx1"/>
                </a:solidFill>
                <a:latin typeface="Roboto" charset="0"/>
                <a:ea typeface="Roboto" charset="0"/>
              </a:rPr>
              <a:t> </a:t>
            </a:r>
            <a:r>
              <a:rPr lang="ru-RU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Проектирование UI на базе </a:t>
            </a:r>
            <a:r>
              <a:rPr lang="ru-RU" sz="1500" dirty="0" err="1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Flutter</a:t>
            </a:r>
            <a:r>
              <a:rPr lang="ru-RU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.</a:t>
            </a:r>
            <a:endParaRPr lang="en-US" sz="1500" dirty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Реализация локального хранилища JSON.</a:t>
            </a:r>
            <a:endParaRPr lang="en-US" sz="1500" dirty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Разработка блочного редактора контента.</a:t>
            </a:r>
            <a:endParaRPr lang="en-US" sz="1500" dirty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Создание интерактивной системы стикеров.</a:t>
            </a:r>
            <a:endParaRPr lang="en-US" sz="1500" dirty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Интеграция системы тем и локализации.</a:t>
            </a:r>
            <a:endParaRPr sz="1500" dirty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5"/>
          <p:cNvSpPr txBox="1"/>
          <p:nvPr/>
        </p:nvSpPr>
        <p:spPr>
          <a:xfrm>
            <a:off x="548640" y="523702"/>
            <a:ext cx="11338136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Описание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предметной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области</a:t>
            </a:r>
            <a:endParaRPr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115" name="Google Shape;115;p15"/>
          <p:cNvSpPr txBox="1"/>
          <p:nvPr/>
        </p:nvSpPr>
        <p:spPr>
          <a:xfrm>
            <a:off x="572712" y="1812175"/>
            <a:ext cx="5412452" cy="193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ru-RU" sz="1500" dirty="0">
                <a:solidFill>
                  <a:srgbClr val="FFA709"/>
                </a:solidFill>
                <a:latin typeface="Roboto" charset="0"/>
                <a:ea typeface="Roboto" charset="0"/>
              </a:rPr>
              <a:t>Предметная область: </a:t>
            </a:r>
            <a:endParaRPr lang="en-US" sz="1500" dirty="0">
              <a:solidFill>
                <a:srgbClr val="FFA709"/>
              </a:solidFill>
              <a:latin typeface="Roboto" charset="0"/>
              <a:ea typeface="Roboto" charset="0"/>
            </a:endParaRPr>
          </a:p>
          <a:p>
            <a:pPr lvl="0">
              <a:lnSpc>
                <a:spcPct val="140000"/>
              </a:lnSpc>
            </a:pPr>
            <a:r>
              <a:rPr lang="ru-RU" sz="1500" dirty="0">
                <a:solidFill>
                  <a:schemeClr val="tx1"/>
                </a:solidFill>
                <a:latin typeface="Roboto" charset="0"/>
                <a:ea typeface="Roboto" charset="0"/>
              </a:rPr>
              <a:t>Создание личного цифрового дневника для записей и самоанализа.</a:t>
            </a:r>
            <a:endParaRPr lang="en-US" sz="1500" dirty="0">
              <a:solidFill>
                <a:schemeClr val="tx1"/>
              </a:solidFill>
              <a:latin typeface="Roboto" charset="0"/>
              <a:ea typeface="Roboto" charset="0"/>
            </a:endParaRPr>
          </a:p>
          <a:p>
            <a:pPr lvl="0">
              <a:lnSpc>
                <a:spcPct val="140000"/>
              </a:lnSpc>
            </a:pPr>
            <a:br>
              <a:rPr lang="ru-RU" sz="1500" dirty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sz="1500" dirty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ru-RU" sz="1500" dirty="0">
                <a:solidFill>
                  <a:srgbClr val="FFA709"/>
                </a:solidFill>
                <a:latin typeface="Roboto" charset="0"/>
                <a:ea typeface="Roboto" charset="0"/>
              </a:rPr>
              <a:t>Что делает приложение:</a:t>
            </a:r>
            <a:br>
              <a:rPr lang="ru-RU" sz="1500" dirty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sz="1500" dirty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820189" y="3383281"/>
            <a:ext cx="4799215" cy="2408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dirty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  <a:t>Помогает удобно вести заметки, добавляя в них фото и интерактивные стикеры.</a:t>
            </a:r>
            <a:b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  <a:t>Хранит все данные на устройстве и позволяет быстро находить нужные мысли.</a:t>
            </a:r>
            <a:b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  <a:t>Помогает следить за своим настроением с помощью встроенных эмодзи.</a:t>
            </a:r>
            <a:endParaRPr lang="en-US" dirty="0">
              <a:solidFill>
                <a:schemeClr val="tx1"/>
              </a:solidFill>
              <a:latin typeface="Roboto" charset="0"/>
              <a:ea typeface="Roboto" charset="0"/>
            </a:endParaRPr>
          </a:p>
          <a:p>
            <a:pPr>
              <a:buFontTx/>
              <a:buChar char="-"/>
            </a:pPr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/>
        </p:nvSpPr>
        <p:spPr>
          <a:xfrm>
            <a:off x="581026" y="465513"/>
            <a:ext cx="1130575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Инструментальные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средства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разработки</a:t>
            </a:r>
            <a:endParaRPr dirty="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graphicFrame>
        <p:nvGraphicFramePr>
          <p:cNvPr id="124" name="Google Shape;124;p16"/>
          <p:cNvGraphicFramePr/>
          <p:nvPr/>
        </p:nvGraphicFramePr>
        <p:xfrm>
          <a:off x="581025" y="2043112"/>
          <a:ext cx="11020425" cy="3159125"/>
        </p:xfrm>
        <a:graphic>
          <a:graphicData uri="http://schemas.openxmlformats.org/drawingml/2006/table">
            <a:tbl>
              <a:tblPr firstRow="1" bandRow="1">
                <a:noFill/>
                <a:tableStyleId>{35C4AC55-5D1E-4597-BDF1-AA6051E4D528}</a:tableStyleId>
              </a:tblPr>
              <a:tblGrid>
                <a:gridCol w="462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5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Этап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Изображение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(</a:t>
                      </a: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логотип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)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инструмента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</a:t>
                      </a: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роектирование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UML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Разработка интерфейса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Flutter Framework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Язык и среда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Dart / VS Code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Хранение данных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SharedPreferences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5" name="Google Shape;12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42225" y="2674925"/>
            <a:ext cx="631825" cy="631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25600" y="3306806"/>
            <a:ext cx="631824" cy="631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8850" y="3938633"/>
            <a:ext cx="631825" cy="631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0"/>
          <p:cNvSpPr txBox="1"/>
          <p:nvPr/>
        </p:nvSpPr>
        <p:spPr>
          <a:xfrm>
            <a:off x="623455" y="498763"/>
            <a:ext cx="1126332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Merriweather"/>
              </a:rPr>
              <a:t>Тестирование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Merriweather"/>
              </a:rPr>
              <a:t> ПП</a:t>
            </a:r>
            <a:endParaRPr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0" name="Google Shape;170;p20"/>
          <p:cNvSpPr txBox="1"/>
          <p:nvPr/>
        </p:nvSpPr>
        <p:spPr>
          <a:xfrm>
            <a:off x="581025" y="1479665"/>
            <a:ext cx="5590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Функциональное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тестирование</a:t>
            </a:r>
            <a:r>
              <a:rPr lang="en-US" sz="1500" b="1" dirty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:</a:t>
            </a:r>
            <a:endParaRPr sz="1500">
              <a:solidFill>
                <a:srgbClr val="FFA709"/>
              </a:solidFill>
              <a:latin typeface="Roboto" charset="0"/>
              <a:ea typeface="Roboto" charset="0"/>
            </a:endParaRPr>
          </a:p>
        </p:txBody>
      </p:sp>
      <p:sp>
        <p:nvSpPr>
          <p:cNvPr id="171" name="Google Shape;171;p20"/>
          <p:cNvSpPr txBox="1"/>
          <p:nvPr/>
        </p:nvSpPr>
        <p:spPr>
          <a:xfrm>
            <a:off x="581025" y="1911928"/>
            <a:ext cx="4897062" cy="1271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процессе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разработки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было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проведено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ручное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и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автоматизированное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тестирование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основных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модулей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2" name="Google Shape;172;p20"/>
          <p:cNvSpPr txBox="1"/>
          <p:nvPr/>
        </p:nvSpPr>
        <p:spPr>
          <a:xfrm>
            <a:off x="7702462" y="2262176"/>
            <a:ext cx="25908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Скриншот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успешного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теста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>
              <a:solidFill>
                <a:schemeClr val="tx1"/>
              </a:solidFill>
            </a:endParaRPr>
          </a:p>
        </p:txBody>
      </p:sp>
      <p:pic>
        <p:nvPicPr>
          <p:cNvPr id="1031" name="Picture 7" descr="C:\Users\Milina\Desktop\photo_2026-05-27_02-31-18.jp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926975" y="2790793"/>
            <a:ext cx="6076604" cy="941621"/>
          </a:xfrm>
          <a:prstGeom prst="rect">
            <a:avLst/>
          </a:prstGeom>
          <a:noFill/>
        </p:spPr>
      </p:pic>
      <p:sp>
        <p:nvSpPr>
          <p:cNvPr id="7" name="Прямоугольник 6"/>
          <p:cNvSpPr/>
          <p:nvPr/>
        </p:nvSpPr>
        <p:spPr>
          <a:xfrm>
            <a:off x="897774" y="2890063"/>
            <a:ext cx="4322619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dirty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  <a:t>Успешный тест </a:t>
            </a:r>
            <a:r>
              <a:rPr lang="ru-RU" dirty="0" err="1">
                <a:solidFill>
                  <a:schemeClr val="tx1"/>
                </a:solidFill>
                <a:latin typeface="Roboto" charset="0"/>
                <a:ea typeface="Roboto" charset="0"/>
              </a:rPr>
              <a:t>сериализации</a:t>
            </a:r>
            <a: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  <a:t> данных </a:t>
            </a:r>
            <a:r>
              <a:rPr lang="ru-RU" dirty="0" err="1">
                <a:solidFill>
                  <a:schemeClr val="tx1"/>
                </a:solidFill>
                <a:latin typeface="Roboto" charset="0"/>
                <a:ea typeface="Roboto" charset="0"/>
              </a:rPr>
              <a:t>BlockContent</a:t>
            </a:r>
            <a: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  <a:t> в JSON для сохранения в память;</a:t>
            </a:r>
            <a:b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err="1">
                <a:solidFill>
                  <a:schemeClr val="tx1"/>
                </a:solidFill>
                <a:latin typeface="Roboto" charset="0"/>
                <a:ea typeface="Roboto" charset="0"/>
              </a:rPr>
              <a:t>Валидация</a:t>
            </a:r>
            <a: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  <a:t> создания записи </a:t>
            </a:r>
            <a:r>
              <a:rPr lang="ru-RU" dirty="0" err="1">
                <a:solidFill>
                  <a:schemeClr val="tx1"/>
                </a:solidFill>
                <a:latin typeface="Roboto" charset="0"/>
                <a:ea typeface="Roboto" charset="0"/>
              </a:rPr>
              <a:t>DiaryEntry</a:t>
            </a:r>
            <a: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  <a:t>;</a:t>
            </a:r>
            <a:b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en-US" dirty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UI: блочный ввод текста, добавление фото и Drag &amp; Drop перемещение стикеров;</a:t>
            </a:r>
            <a:b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логики: сквозное автосохранение, </a:t>
            </a:r>
            <a:r>
              <a:rPr lang="ru-RU" dirty="0" err="1">
                <a:solidFill>
                  <a:schemeClr val="tx1"/>
                </a:solidFill>
                <a:latin typeface="Roboto" charset="0"/>
                <a:ea typeface="Roboto" charset="0"/>
              </a:rPr>
              <a:t>real-time</a:t>
            </a:r>
            <a: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  <a:t> поиск и фильтрация по календарю;</a:t>
            </a:r>
            <a:b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настроек: моментальная смена 3 тем оформления и языков интерфейса.</a:t>
            </a:r>
            <a:endParaRPr lang="en-US" dirty="0">
              <a:solidFill>
                <a:schemeClr val="tx1"/>
              </a:solidFill>
              <a:latin typeface="Roboto" charset="0"/>
              <a:ea typeface="Roboto" charset="0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1"/>
          <p:cNvSpPr txBox="1"/>
          <p:nvPr/>
        </p:nvSpPr>
        <p:spPr>
          <a:xfrm>
            <a:off x="305251" y="2736300"/>
            <a:ext cx="11581500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Демонстрация</a:t>
            </a:r>
            <a:r>
              <a:rPr lang="en-US" sz="4400" b="1" i="0" u="none" strike="noStrike" cap="none" dirty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44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программного</a:t>
            </a:r>
            <a:r>
              <a:rPr lang="en-US" sz="4400" b="1" i="0" u="none" strike="noStrike" cap="none" dirty="0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4400" b="1" i="0" u="none" strike="noStrike" cap="none" dirty="0" err="1">
                <a:solidFill>
                  <a:schemeClr val="tx1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продукта</a:t>
            </a:r>
            <a:endParaRPr sz="120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2"/>
          <p:cNvSpPr txBox="1"/>
          <p:nvPr/>
        </p:nvSpPr>
        <p:spPr>
          <a:xfrm>
            <a:off x="590204" y="548639"/>
            <a:ext cx="11296571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Merriweather"/>
              </a:rPr>
              <a:t>Вывод</a:t>
            </a:r>
            <a:endParaRPr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91" name="Google Shape;191;p22"/>
          <p:cNvSpPr txBox="1"/>
          <p:nvPr/>
        </p:nvSpPr>
        <p:spPr>
          <a:xfrm>
            <a:off x="581025" y="1554480"/>
            <a:ext cx="11030100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ходе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проектной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работы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был</a:t>
            </a:r>
            <a:r>
              <a:rPr lang="ru-RU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разработан</a:t>
            </a:r>
            <a:r>
              <a:rPr lang="ru-RU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полноценн</a:t>
            </a:r>
            <a:r>
              <a:rPr lang="ru-RU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ое</a:t>
            </a:r>
            <a:r>
              <a:rPr lang="ru-RU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кроссплатформанное</a:t>
            </a:r>
            <a:r>
              <a:rPr lang="ru-RU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приложение </a:t>
            </a:r>
          </a:p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«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My Diary</a:t>
            </a:r>
            <a:r>
              <a:rPr lang="ru-RU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».</a:t>
            </a:r>
          </a:p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результате все цели достигнуты.</a:t>
            </a:r>
            <a:r>
              <a:rPr lang="ru-RU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500">
              <a:solidFill>
                <a:srgbClr val="108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Другая 2">
      <a:dk1>
        <a:srgbClr val="00001A"/>
      </a:dk1>
      <a:lt1>
        <a:sysClr val="window" lastClr="FFFFFF"/>
      </a:lt1>
      <a:dk2>
        <a:srgbClr val="646B86"/>
      </a:dk2>
      <a:lt2>
        <a:srgbClr val="C5D1D7"/>
      </a:lt2>
      <a:accent1>
        <a:srgbClr val="D16349"/>
      </a:accent1>
      <a:accent2>
        <a:srgbClr val="CCB400"/>
      </a:accent2>
      <a:accent3>
        <a:srgbClr val="8CADAE"/>
      </a:accent3>
      <a:accent4>
        <a:srgbClr val="8C7B70"/>
      </a:accent4>
      <a:accent5>
        <a:srgbClr val="8FB08C"/>
      </a:accent5>
      <a:accent6>
        <a:srgbClr val="D19049"/>
      </a:accent6>
      <a:hlink>
        <a:srgbClr val="00A3D6"/>
      </a:hlink>
      <a:folHlink>
        <a:srgbClr val="694F07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205</TotalTime>
  <Words>314</Words>
  <Application>Microsoft Office PowerPoint</Application>
  <PresentationFormat>Широкоэкранный</PresentationFormat>
  <Paragraphs>45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Roboto</vt:lpstr>
      <vt:lpstr>Calibri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Serusew *</dc:creator>
  <cp:lastModifiedBy>Student Student</cp:lastModifiedBy>
  <cp:revision>18</cp:revision>
  <dcterms:modified xsi:type="dcterms:W3CDTF">2026-05-27T03:42:29Z</dcterms:modified>
</cp:coreProperties>
</file>