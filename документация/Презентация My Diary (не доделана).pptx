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Default Extension="fntdata" ContentType="application/x-fontdata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6" r:id="rId6"/>
    <p:sldId id="267" r:id="rId7"/>
    <p:sldId id="263" r:id="rId8"/>
    <p:sldId id="264" r:id="rId9"/>
    <p:sldId id="265" r:id="rId10"/>
  </p:sldIdLst>
  <p:sldSz cx="12192000" cy="6858000"/>
  <p:notesSz cx="6858000" cy="9144000"/>
  <p:embeddedFontLst>
    <p:embeddedFont>
      <p:font typeface="Roboto" charset="0"/>
      <p:regular r:id="rId12"/>
      <p:bold r:id="rId13"/>
      <p:italic r:id="rId14"/>
      <p:boldItalic r:id="rId15"/>
    </p:embeddedFont>
    <p:embeddedFont>
      <p:font typeface="Calibri" pitchFamily="34" charset="0"/>
      <p:regular r:id="rId16"/>
      <p:bold r:id="rId17"/>
      <p:italic r:id="rId18"/>
      <p:boldItalic r:id="rId19"/>
    </p:embeddedFont>
    <p:embeddedFont>
      <p:font typeface="Merriweather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709"/>
    <a:srgbClr val="04062A"/>
    <a:srgbClr val="030048"/>
    <a:srgbClr val="FF8409"/>
  </p:clrMru>
</p:presentationPr>
</file>

<file path=ppt/tableStyles.xml><?xml version="1.0" encoding="utf-8"?>
<a:tblStyleLst xmlns:a="http://schemas.openxmlformats.org/drawingml/2006/main" def="{35C4AC55-5D1E-4597-BDF1-AA6051E4D528}">
  <a:tblStyle styleId="{35C4AC55-5D1E-4597-BDF1-AA6051E4D52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2" autoAdjust="0"/>
    <p:restoredTop sz="94609" autoAdjust="0"/>
  </p:normalViewPr>
  <p:slideViewPr>
    <p:cSldViewPr snapToGrid="0">
      <p:cViewPr varScale="1">
        <p:scale>
          <a:sx n="115" d="100"/>
          <a:sy n="115" d="100"/>
        </p:scale>
        <p:origin x="-396" y="-1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581025" y="390525"/>
            <a:ext cx="11029950" cy="83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АВТОНОМНАЯ НЕКОММЕРЧЕСКАЯ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ПРОФЕССИОНАЛЬНАЯ ОБРАЗОВАТЕЛЬНАЯ ОРГАНИЗАЦИЯ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МОСКОВСКИЙ МЕЖДУНАРОДНЫЙ КОЛЛЕДЖ ЦИФРОВЫХ</a:t>
            </a:r>
            <a: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br>
              <a:rPr lang="en-US" sz="1800" b="0" i="0" u="none" strike="noStrike" cap="none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ТЕХНОЛОГИЙ «АКАДЕМИЯ ТОП»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581025" y="1952625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b="1">
              <a:solidFill>
                <a:schemeClr val="tx1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2362200"/>
            <a:ext cx="11029950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50" b="1" dirty="0" err="1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К</a:t>
            </a:r>
            <a:r>
              <a:rPr lang="ru-RU" sz="2550" b="1" dirty="0" err="1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россплатформенное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 приложение «</a:t>
            </a:r>
            <a:r>
              <a:rPr lang="en-US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2550" b="1" dirty="0" smtClean="0">
                <a:solidFill>
                  <a:srgbClr val="FFA709"/>
                </a:solidFill>
                <a:latin typeface="Roboto"/>
                <a:ea typeface="Roboto"/>
                <a:cs typeface="Roboto"/>
                <a:sym typeface="Roboto"/>
              </a:rPr>
              <a:t>»</a:t>
            </a:r>
            <a:endParaRPr>
              <a:solidFill>
                <a:srgbClr val="FFA709"/>
              </a:solidFill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581025" y="6286500"/>
            <a:ext cx="11029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Иркутск</a:t>
            </a:r>
            <a:r>
              <a:rPr lang="en-US" sz="12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2026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938655" y="4533900"/>
            <a:ext cx="415472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Выполнил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Рощинина Милена 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Вячеславовна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938654" y="4891346"/>
            <a:ext cx="366400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500" b="0" i="0" u="none" strike="noStrike" cap="none" dirty="0" smtClean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Группа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РПО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946966" y="5536276"/>
            <a:ext cx="4245033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Руководитель: </a:t>
            </a:r>
            <a:r>
              <a:rPr lang="en-US" sz="15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Концевич Андрей Алексеевич</a:t>
            </a:r>
            <a:endParaRPr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556953" y="498763"/>
            <a:ext cx="11329822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Цель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,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задачи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проектного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проектирования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564400" y="1702377"/>
            <a:ext cx="1102995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Цель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 </a:t>
            </a:r>
            <a:endParaRPr lang="ru-RU" sz="1500" b="1" i="0" u="none" strike="noStrike" cap="none" dirty="0" smtClean="0"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  <a:sym typeface="Roboto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автономного программного комплекса для автоматизации процесса ведения личных записей.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98" name="Google Shape;98;p14"/>
          <p:cNvSpPr txBox="1"/>
          <p:nvPr/>
        </p:nvSpPr>
        <p:spPr>
          <a:xfrm>
            <a:off x="564400" y="2585258"/>
            <a:ext cx="1102995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Задачи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проектного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проектирования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Arial" pitchFamily="34" charset="0"/>
                <a:sym typeface="Roboto"/>
              </a:rPr>
              <a:t>:</a:t>
            </a:r>
            <a:endParaRPr>
              <a:solidFill>
                <a:srgbClr val="FFA709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1011382" y="2984269"/>
            <a:ext cx="10574655" cy="1637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lvl="2">
              <a:lnSpc>
                <a:spcPct val="140000"/>
              </a:lnSpc>
            </a:pPr>
            <a:r>
              <a:rPr lang="en-US" sz="1600" dirty="0" smtClean="0">
                <a:solidFill>
                  <a:schemeClr val="tx1"/>
                </a:solidFill>
              </a:rPr>
              <a:t> </a:t>
            </a:r>
            <a:r>
              <a:rPr lang="ru-RU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</a:t>
            </a:r>
            <a:r>
              <a:rPr lang="en-US" sz="16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Проектирование UI на базе </a:t>
            </a:r>
            <a:r>
              <a:rPr lang="ru-RU" sz="1500" dirty="0" err="1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Flutter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Реализация локального хранилища JSON.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Разработка блочного редактора контента.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Создание интерактивной системы стикеров.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  <a:p>
            <a:pPr lvl="0">
              <a:lnSpc>
                <a:spcPct val="140000"/>
              </a:lnSpc>
            </a:pP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- </a:t>
            </a:r>
            <a:r>
              <a:rPr lang="en-US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 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  <a:cs typeface="Arial" pitchFamily="34" charset="0"/>
              </a:rPr>
              <a:t>Интеграция системы тем и локализации.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5"/>
          <p:cNvSpPr txBox="1"/>
          <p:nvPr/>
        </p:nvSpPr>
        <p:spPr>
          <a:xfrm>
            <a:off x="548640" y="523702"/>
            <a:ext cx="1133813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предметной</a:t>
            </a:r>
            <a:r>
              <a:rPr lang="en-US" sz="2700" b="1" i="0" u="none" strike="noStrike" cap="none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области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sp>
        <p:nvSpPr>
          <p:cNvPr id="115" name="Google Shape;115;p15"/>
          <p:cNvSpPr txBox="1"/>
          <p:nvPr/>
        </p:nvSpPr>
        <p:spPr>
          <a:xfrm>
            <a:off x="572712" y="1812175"/>
            <a:ext cx="5412452" cy="1938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Предметная область: </a:t>
            </a:r>
            <a:endParaRPr lang="en-US" sz="1500" dirty="0" smtClean="0">
              <a:solidFill>
                <a:srgbClr val="FFA709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Создание личного цифрового дневника для записей и самоанализа.</a:t>
            </a:r>
            <a:endParaRPr lang="en-US" sz="1500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 lvl="0">
              <a:lnSpc>
                <a:spcPct val="140000"/>
              </a:lnSpc>
            </a:pP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ru-RU" sz="1500" dirty="0" smtClean="0">
                <a:solidFill>
                  <a:srgbClr val="FFA709"/>
                </a:solidFill>
                <a:latin typeface="Roboto" charset="0"/>
                <a:ea typeface="Roboto" charset="0"/>
              </a:rPr>
              <a:t>Что делает приложение:</a:t>
            </a: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/>
            </a:r>
            <a:b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sz="1500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endParaRPr sz="1500">
              <a:solidFill>
                <a:schemeClr val="tx1"/>
              </a:solidFill>
              <a:latin typeface="Roboto" charset="0"/>
              <a:ea typeface="Roboto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820189" y="3383281"/>
            <a:ext cx="4799215" cy="2408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удобно вести заметки, добавляя в них фото и интерактивные стикеры.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Хранит все данные на устройстве и позволяет быстро находить нужные мысли.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Помогает следить за своим настроением с помощью встроенных эмодзи.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</a:endParaRPr>
          </a:p>
          <a:p>
            <a:pPr>
              <a:buFontTx/>
              <a:buChar char="-"/>
            </a:pPr>
            <a:endParaRPr lang="ru-RU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 txBox="1"/>
          <p:nvPr/>
        </p:nvSpPr>
        <p:spPr>
          <a:xfrm>
            <a:off x="723206" y="465513"/>
            <a:ext cx="11163569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Инструментальные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средства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разработки</a:t>
            </a:r>
            <a:endParaRPr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  <p:graphicFrame>
        <p:nvGraphicFramePr>
          <p:cNvPr id="124" name="Google Shape;124;p16"/>
          <p:cNvGraphicFramePr/>
          <p:nvPr/>
        </p:nvGraphicFramePr>
        <p:xfrm>
          <a:off x="581025" y="2043112"/>
          <a:ext cx="11020425" cy="3159125"/>
        </p:xfrm>
        <a:graphic>
          <a:graphicData uri="http://schemas.openxmlformats.org/drawingml/2006/table">
            <a:tbl>
              <a:tblPr firstRow="1" bandRow="1">
                <a:noFill/>
                <a:tableStyleId>{35C4AC55-5D1E-4597-BDF1-AA6051E4D528}</a:tableStyleId>
              </a:tblPr>
              <a:tblGrid>
                <a:gridCol w="4623500"/>
                <a:gridCol w="3231200"/>
                <a:gridCol w="3165725"/>
              </a:tblGrid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Этап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Изображение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(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логотип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)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</a:t>
                      </a:r>
                      <a:r>
                        <a:rPr lang="en-US" sz="1500" b="1" i="0" u="none" strike="noStrike" cap="none" dirty="0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US" sz="1500" b="1" i="0" u="none" strike="noStrike" cap="none" dirty="0" err="1">
                          <a:solidFill>
                            <a:srgbClr val="FFA709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инструмента</a:t>
                      </a:r>
                      <a:endParaRPr>
                        <a:solidFill>
                          <a:srgbClr val="FFA709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</a:t>
                      </a:r>
                      <a:r>
                        <a:rPr lang="en-US" sz="1500" b="0" i="0" u="none" strike="noStrike" cap="none" dirty="0" err="1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роектирование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UML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Разработка интерфейса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Flutter Framework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Язык и среда</a:t>
                      </a:r>
                      <a:endParaRPr lang="ru-RU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Dart / VS Code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  <a:tr h="6318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500" b="0" i="0" u="none" strike="noStrike" cap="none" dirty="0" smtClean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Хранение данных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u="none" strike="noStrike" cap="non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 err="1" smtClean="0">
                          <a:solidFill>
                            <a:schemeClr val="tx1"/>
                          </a:solidFill>
                        </a:rPr>
                        <a:t>SharedPreferences</a:t>
                      </a: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 marL="63500" marR="63500" marT="25400" marB="2540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840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062A"/>
                    </a:solidFill>
                  </a:tcPr>
                </a:tc>
              </a:tr>
            </a:tbl>
          </a:graphicData>
        </a:graphic>
      </p:graphicFrame>
      <p:pic>
        <p:nvPicPr>
          <p:cNvPr id="125" name="Google Shape;12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42225" y="2674925"/>
            <a:ext cx="631825" cy="631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25600" y="3306806"/>
            <a:ext cx="631824" cy="63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8850" y="3938633"/>
            <a:ext cx="631825" cy="631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---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615142" y="465513"/>
            <a:ext cx="756458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Описание таблиц </a:t>
            </a:r>
            <a:r>
              <a:rPr lang="en-US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ER-</a:t>
            </a:r>
            <a:r>
              <a:rPr lang="ru-RU" sz="2700" b="1" dirty="0" smtClean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модели</a:t>
            </a:r>
            <a:endParaRPr lang="ru-RU" sz="2700" b="1" dirty="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0"/>
          <p:cNvSpPr txBox="1"/>
          <p:nvPr/>
        </p:nvSpPr>
        <p:spPr>
          <a:xfrm>
            <a:off x="623455" y="498763"/>
            <a:ext cx="1126332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Тестирование</a:t>
            </a:r>
            <a:r>
              <a:rPr lang="en-US" sz="2700" b="1" i="0" u="none" strike="noStrike" cap="none" dirty="0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 ПП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70" name="Google Shape;170;p20"/>
          <p:cNvSpPr txBox="1"/>
          <p:nvPr/>
        </p:nvSpPr>
        <p:spPr>
          <a:xfrm>
            <a:off x="581025" y="1479665"/>
            <a:ext cx="5590800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Функциональное</a:t>
            </a:r>
            <a:r>
              <a:rPr lang="en-US" sz="1500" b="1" i="0" u="none" strike="noStrike" cap="none" dirty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 </a:t>
            </a:r>
            <a:r>
              <a:rPr lang="en-US" sz="1500" b="1" i="0" u="none" strike="noStrike" cap="none" dirty="0" err="1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тестирование</a:t>
            </a:r>
            <a:r>
              <a:rPr lang="en-US" sz="1500" b="1" dirty="0" smtClean="0">
                <a:solidFill>
                  <a:srgbClr val="FFA709"/>
                </a:solidFill>
                <a:latin typeface="Roboto" charset="0"/>
                <a:ea typeface="Roboto" charset="0"/>
                <a:cs typeface="Merriweather"/>
                <a:sym typeface="Merriweather"/>
              </a:rPr>
              <a:t>:</a:t>
            </a:r>
            <a:endParaRPr sz="1500">
              <a:solidFill>
                <a:srgbClr val="FFA709"/>
              </a:solidFill>
              <a:latin typeface="Roboto" charset="0"/>
              <a:ea typeface="Roboto" charset="0"/>
            </a:endParaRPr>
          </a:p>
        </p:txBody>
      </p:sp>
      <p:sp>
        <p:nvSpPr>
          <p:cNvPr id="171" name="Google Shape;171;p20"/>
          <p:cNvSpPr txBox="1"/>
          <p:nvPr/>
        </p:nvSpPr>
        <p:spPr>
          <a:xfrm>
            <a:off x="581025" y="1911928"/>
            <a:ext cx="4897062" cy="1271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процессе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разработки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проведено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ручное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и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автоматизированное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тестирование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основных</a:t>
            </a:r>
            <a:r>
              <a:rPr lang="en-US" sz="1500" b="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модулей</a:t>
            </a:r>
            <a:r>
              <a:rPr lang="en-US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2" name="Google Shape;172;p20"/>
          <p:cNvSpPr txBox="1"/>
          <p:nvPr/>
        </p:nvSpPr>
        <p:spPr>
          <a:xfrm>
            <a:off x="7702462" y="2262176"/>
            <a:ext cx="25908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Скриншот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успешного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b="1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теста</a:t>
            </a:r>
            <a:r>
              <a:rPr lang="en-US" sz="1500" b="1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>
              <a:solidFill>
                <a:schemeClr val="tx1"/>
              </a:solidFill>
            </a:endParaRPr>
          </a:p>
        </p:txBody>
      </p:sp>
      <p:pic>
        <p:nvPicPr>
          <p:cNvPr id="1031" name="Picture 7" descr="C:\Users\Milina\Desktop\photo_2026-05-27_02-31-18.jp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6975" y="2790793"/>
            <a:ext cx="6076604" cy="941621"/>
          </a:xfrm>
          <a:prstGeom prst="rect">
            <a:avLst/>
          </a:prstGeom>
          <a:noFill/>
        </p:spPr>
      </p:pic>
      <p:sp>
        <p:nvSpPr>
          <p:cNvPr id="7" name="Прямоугольник 6"/>
          <p:cNvSpPr/>
          <p:nvPr/>
        </p:nvSpPr>
        <p:spPr>
          <a:xfrm>
            <a:off x="897774" y="2890063"/>
            <a:ext cx="4322619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Успешный тест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сериализации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данных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BlockContent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в JSON для сохранения в память;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Валидация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создания записи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DiaryEntry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UI: блочный ввод текста, добавление фото и Drag &amp; Drop перемещение стикеров;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логики: сквозное автосохранение, </a:t>
            </a:r>
            <a:r>
              <a:rPr lang="ru-RU" dirty="0" err="1" smtClean="0">
                <a:solidFill>
                  <a:schemeClr val="tx1"/>
                </a:solidFill>
                <a:latin typeface="Roboto" charset="0"/>
                <a:ea typeface="Roboto" charset="0"/>
              </a:rPr>
              <a:t>real-time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 поиск и фильтрация по календарю;</a:t>
            </a:r>
            <a:b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</a:b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​</a:t>
            </a:r>
            <a:r>
              <a:rPr lang="en-US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-  </a:t>
            </a:r>
            <a:r>
              <a:rPr lang="ru-RU" dirty="0" smtClean="0">
                <a:solidFill>
                  <a:schemeClr val="tx1"/>
                </a:solidFill>
                <a:latin typeface="Roboto" charset="0"/>
                <a:ea typeface="Roboto" charset="0"/>
              </a:rPr>
              <a:t>Проверка настроек: моментальная смена 3 тем оформления и языков интерфейса.</a:t>
            </a:r>
            <a:endParaRPr lang="en-US" dirty="0" smtClean="0">
              <a:solidFill>
                <a:schemeClr val="tx1"/>
              </a:solidFill>
              <a:latin typeface="Roboto" charset="0"/>
              <a:ea typeface="Roboto" charset="0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1"/>
          <p:cNvSpPr txBox="1"/>
          <p:nvPr/>
        </p:nvSpPr>
        <p:spPr>
          <a:xfrm>
            <a:off x="305251" y="2736300"/>
            <a:ext cx="115815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Демонстрация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программного</a:t>
            </a:r>
            <a:r>
              <a:rPr lang="en-US" sz="4400" b="1" i="0" u="none" strike="noStrike" cap="none" dirty="0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 </a:t>
            </a:r>
            <a:r>
              <a:rPr lang="en-US" sz="4400" b="1" i="0" u="none" strike="noStrike" cap="none" dirty="0" err="1">
                <a:solidFill>
                  <a:schemeClr val="tx1"/>
                </a:solidFill>
                <a:latin typeface="Merriweather" charset="0"/>
                <a:ea typeface="Merriweather" charset="0"/>
                <a:cs typeface="Merriweather" charset="0"/>
                <a:sym typeface="Merriweather"/>
              </a:rPr>
              <a:t>продукта</a:t>
            </a:r>
            <a:endParaRPr sz="1200">
              <a:solidFill>
                <a:schemeClr val="tx1"/>
              </a:solidFill>
              <a:latin typeface="Merriweather" charset="0"/>
              <a:ea typeface="Merriweather" charset="0"/>
              <a:cs typeface="Merriweather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2"/>
          <p:cNvSpPr txBox="1"/>
          <p:nvPr/>
        </p:nvSpPr>
        <p:spPr>
          <a:xfrm>
            <a:off x="590204" y="548639"/>
            <a:ext cx="11296571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 err="1">
                <a:solidFill>
                  <a:schemeClr val="tx1"/>
                </a:solidFill>
                <a:latin typeface="Merriweather"/>
                <a:ea typeface="Merriweather"/>
                <a:cs typeface="Merriweather"/>
                <a:sym typeface="Merriweather"/>
              </a:rPr>
              <a:t>Вывод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91" name="Google Shape;191;p22"/>
          <p:cNvSpPr txBox="1"/>
          <p:nvPr/>
        </p:nvSpPr>
        <p:spPr>
          <a:xfrm>
            <a:off x="581025" y="1554480"/>
            <a:ext cx="11030100" cy="9694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ходе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проектной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работы</a:t>
            </a:r>
            <a:r>
              <a:rPr lang="en-US" sz="1500" i="0" u="none" strike="noStrike" cap="none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был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разработан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полноценн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 i="0" u="none" strike="noStrike" cap="none" dirty="0" err="1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кроссплатформанное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приложение 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«</a:t>
            </a:r>
            <a:r>
              <a:rPr lang="en-US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My Diary</a:t>
            </a:r>
            <a:r>
              <a:rPr lang="ru-RU" sz="150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».</a:t>
            </a:r>
          </a:p>
          <a:p>
            <a:pPr marL="0" marR="0" lvl="0" indent="0" rtl="0">
              <a:lnSpc>
                <a:spcPct val="13995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В результате все цели достигнуты.</a:t>
            </a:r>
            <a:r>
              <a:rPr lang="ru-RU" sz="1500" b="0" i="0" u="none" strike="noStrike" cap="none" dirty="0" smtClean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500">
              <a:solidFill>
                <a:srgbClr val="108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Другая 2">
      <a:dk1>
        <a:srgbClr val="00001A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</TotalTime>
  <Words>209</Words>
  <PresentationFormat>Произвольный</PresentationFormat>
  <Paragraphs>47</Paragraphs>
  <Slides>9</Slides>
  <Notes>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Roboto</vt:lpstr>
      <vt:lpstr>Calibri</vt:lpstr>
      <vt:lpstr>Merriweather</vt:lpstr>
      <vt:lpstr>Тема Office</vt:lpstr>
      <vt:lpstr>Слайд 1</vt:lpstr>
      <vt:lpstr>Слайд 2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Serusew *</dc:creator>
  <cp:lastModifiedBy>Milina Aoki</cp:lastModifiedBy>
  <cp:revision>18</cp:revision>
  <dcterms:modified xsi:type="dcterms:W3CDTF">2026-05-28T11:06:13Z</dcterms:modified>
</cp:coreProperties>
</file>