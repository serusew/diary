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</p:sldIdLst>
  <p:sldSz cx="12192000" cy="6858000"/>
  <p:notesSz cx="6858000" cy="9144000"/>
  <p:embeddedFontLst>
    <p:embeddedFont>
      <p:font typeface="Roboto" charset="0"/>
      <p:regular r:id="rId10"/>
      <p:bold r:id="rId11"/>
      <p:italic r:id="rId12"/>
      <p:boldItalic r:id="rId13"/>
    </p:embeddedFon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Merriweather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709"/>
    <a:srgbClr val="04062A"/>
    <a:srgbClr val="030048"/>
    <a:srgbClr val="FF8409"/>
  </p:clrMru>
</p:presentationPr>
</file>

<file path=ppt/tableStyles.xml><?xml version="1.0" encoding="utf-8"?>
<a:tblStyleLst xmlns:a="http://schemas.openxmlformats.org/drawingml/2006/main" def="{35C4AC55-5D1E-4597-BDF1-AA6051E4D528}">
  <a:tblStyle styleId="{35C4AC55-5D1E-4597-BDF1-AA6051E4D52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09" autoAdjust="0"/>
  </p:normalViewPr>
  <p:slideViewPr>
    <p:cSldViewPr snapToGrid="0">
      <p:cViewPr varScale="1">
        <p:scale>
          <a:sx n="115" d="100"/>
          <a:sy n="115" d="100"/>
        </p:scale>
        <p:origin x="-39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81025" y="390525"/>
            <a:ext cx="110299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АВТОНОМНАЯ НЕКОММЕРЧЕСКАЯ ОРГАНИЗАЦИЯ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ПРОФЕССИОНАЛЬНАЯ ОБРАЗОВАТЕЛЬНАЯ ОРГАНИЗАЦИЯ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МОСКОВСКИЙ МЕЖДУНАРОДНЫЙ КОЛЛЕДЖ ЦИФРОВЫХ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ТЕХНОЛОГИЙ «АКАДЕМИЯ ТОП»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81025" y="1952625"/>
            <a:ext cx="11029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2362200"/>
            <a:ext cx="11029950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 smtClean="0">
                <a:solidFill>
                  <a:srgbClr val="FFA709"/>
                </a:solidFill>
                <a:latin typeface="Roboto"/>
                <a:ea typeface="Roboto"/>
                <a:cs typeface="Roboto"/>
                <a:sym typeface="Roboto"/>
              </a:rPr>
              <a:t>Разработка</a:t>
            </a:r>
            <a:r>
              <a:rPr lang="ru-RU" sz="2550" b="1" dirty="0" smtClean="0">
                <a:solidFill>
                  <a:srgbClr val="FFA709"/>
                </a:solidFill>
                <a:latin typeface="Roboto"/>
                <a:ea typeface="Roboto"/>
                <a:cs typeface="Roboto"/>
                <a:sym typeface="Roboto"/>
              </a:rPr>
              <a:t> кроссплатформенного программного обеспечения «</a:t>
            </a:r>
            <a:r>
              <a:rPr lang="en-US" sz="2550" b="1" dirty="0" smtClean="0">
                <a:solidFill>
                  <a:srgbClr val="FFA709"/>
                </a:solidFill>
                <a:latin typeface="Roboto"/>
                <a:ea typeface="Roboto"/>
                <a:cs typeface="Roboto"/>
                <a:sym typeface="Roboto"/>
              </a:rPr>
              <a:t>My Diary</a:t>
            </a:r>
            <a:r>
              <a:rPr lang="ru-RU" sz="2550" b="1" dirty="0" smtClean="0">
                <a:solidFill>
                  <a:srgbClr val="FFA709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>
              <a:solidFill>
                <a:srgbClr val="FFA709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6286500"/>
            <a:ext cx="110299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Иркутск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938655" y="4533900"/>
            <a:ext cx="41547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Выполнил</a:t>
            </a:r>
            <a:r>
              <a:rPr lang="ru-RU" sz="1500" b="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а</a:t>
            </a:r>
            <a:r>
              <a:rPr lang="en-US" sz="1500" b="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-RU" sz="1500" b="1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Рощинина Милена 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Вячеславовна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938654" y="4891346"/>
            <a:ext cx="366400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0" i="0" u="none" strike="noStrike" cap="none" dirty="0" smtClean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Группа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5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РПО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946966" y="5536276"/>
            <a:ext cx="424503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Руководитель: </a:t>
            </a:r>
            <a:r>
              <a:rPr lang="en-US" sz="15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Концевич Андрей Алексеевич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556953" y="498763"/>
            <a:ext cx="1132982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Цель</a:t>
            </a:r>
            <a:r>
              <a:rPr lang="en-US" sz="2700" b="1" i="0" u="none" strike="noStrike" cap="none" dirty="0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, </a:t>
            </a:r>
            <a:r>
              <a:rPr lang="en-US" sz="2700" b="1" i="0" u="none" strike="noStrike" cap="none" dirty="0" err="1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задачи</a:t>
            </a:r>
            <a:r>
              <a:rPr lang="en-US" sz="2700" b="1" i="0" u="none" strike="noStrike" cap="none" dirty="0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 </a:t>
            </a:r>
            <a:r>
              <a:rPr lang="en-US" sz="2700" b="1" i="0" u="none" strike="noStrike" cap="none" dirty="0" err="1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проектного</a:t>
            </a:r>
            <a:r>
              <a:rPr lang="en-US" sz="2700" b="1" i="0" u="none" strike="noStrike" cap="none" dirty="0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 </a:t>
            </a:r>
            <a:r>
              <a:rPr lang="en-US" sz="2700" b="1" i="0" u="none" strike="noStrike" cap="none" dirty="0" err="1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проектирования</a:t>
            </a:r>
            <a:endParaRPr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64400" y="1702377"/>
            <a:ext cx="1102995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Цель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 </a:t>
            </a: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проектного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 </a:t>
            </a: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проектирования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: </a:t>
            </a:r>
            <a:endParaRPr lang="ru-RU" sz="1500" b="1" i="0" u="none" strike="noStrike" cap="none" dirty="0" smtClean="0">
              <a:solidFill>
                <a:srgbClr val="FFA709"/>
              </a:solidFill>
              <a:latin typeface="Roboto" charset="0"/>
              <a:ea typeface="Roboto" charset="0"/>
              <a:cs typeface="Arial" pitchFamily="34" charset="0"/>
              <a:sym typeface="Roboto"/>
            </a:endParaRPr>
          </a:p>
          <a:p>
            <a:pPr lvl="0">
              <a:lnSpc>
                <a:spcPct val="140000"/>
              </a:lnSpc>
            </a:pPr>
            <a:r>
              <a:rPr lang="ru-RU" sz="1500" dirty="0" smtClean="0">
                <a:solidFill>
                  <a:schemeClr val="tx1"/>
                </a:solidFill>
                <a:latin typeface="Arial" pitchFamily="34" charset="0"/>
                <a:ea typeface="Roboto" charset="0"/>
                <a:cs typeface="Arial" pitchFamily="34" charset="0"/>
              </a:rPr>
              <a:t>Создание автономного программного комплекса для автоматизации процесса ведения личных записей.</a:t>
            </a:r>
            <a:endParaRPr sz="1500">
              <a:solidFill>
                <a:schemeClr val="tx1"/>
              </a:solidFill>
              <a:latin typeface="Arial" pitchFamily="34" charset="0"/>
              <a:ea typeface="Roboto" charset="0"/>
              <a:cs typeface="Arial" pitchFamily="34" charset="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64400" y="2585258"/>
            <a:ext cx="11029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Задачи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 </a:t>
            </a: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проектного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 </a:t>
            </a: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проектирования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:</a:t>
            </a:r>
            <a:endParaRPr>
              <a:solidFill>
                <a:srgbClr val="FFA709"/>
              </a:solidFill>
              <a:latin typeface="Roboto" charset="0"/>
              <a:ea typeface="Roboto" charset="0"/>
              <a:cs typeface="Arial" pitchFamily="34" charset="0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11382" y="2984269"/>
            <a:ext cx="10574655" cy="163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lvl="2">
              <a:lnSpc>
                <a:spcPct val="140000"/>
              </a:lnSpc>
            </a:pP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ru-RU" sz="1600" dirty="0" smtClean="0">
                <a:solidFill>
                  <a:schemeClr val="tx1"/>
                </a:solidFill>
              </a:rPr>
              <a:t>- </a:t>
            </a:r>
            <a:r>
              <a:rPr lang="ru-RU" sz="1500" dirty="0" smtClean="0">
                <a:solidFill>
                  <a:schemeClr val="tx1"/>
                </a:solidFill>
                <a:latin typeface="Arial" pitchFamily="34" charset="0"/>
                <a:ea typeface="Roboto" charset="0"/>
                <a:cs typeface="Arial" pitchFamily="34" charset="0"/>
              </a:rPr>
              <a:t>Проектирование UI на базе </a:t>
            </a:r>
            <a:r>
              <a:rPr lang="ru-RU" sz="1500" dirty="0" err="1" smtClean="0">
                <a:solidFill>
                  <a:schemeClr val="tx1"/>
                </a:solidFill>
                <a:latin typeface="Arial" pitchFamily="34" charset="0"/>
                <a:ea typeface="Roboto" charset="0"/>
                <a:cs typeface="Arial" pitchFamily="34" charset="0"/>
              </a:rPr>
              <a:t>Flutter</a:t>
            </a:r>
            <a:r>
              <a:rPr lang="ru-RU" sz="1500" dirty="0" smtClean="0">
                <a:solidFill>
                  <a:schemeClr val="tx1"/>
                </a:solidFill>
                <a:latin typeface="Arial" pitchFamily="34" charset="0"/>
                <a:ea typeface="Roboto" charset="0"/>
                <a:cs typeface="Arial" pitchFamily="34" charset="0"/>
              </a:rPr>
              <a:t>.</a:t>
            </a:r>
            <a:endParaRPr lang="en-US" sz="1500" dirty="0" smtClean="0">
              <a:solidFill>
                <a:schemeClr val="tx1"/>
              </a:solidFill>
              <a:latin typeface="Arial" pitchFamily="34" charset="0"/>
              <a:ea typeface="Roboto" charset="0"/>
              <a:cs typeface="Arial" pitchFamily="34" charset="0"/>
            </a:endParaRPr>
          </a:p>
          <a:p>
            <a:pPr lvl="0">
              <a:lnSpc>
                <a:spcPct val="140000"/>
              </a:lnSpc>
            </a:pPr>
            <a:r>
              <a:rPr lang="en-US" sz="1500" dirty="0" smtClean="0">
                <a:solidFill>
                  <a:schemeClr val="tx1"/>
                </a:solidFill>
                <a:latin typeface="Arial" pitchFamily="34" charset="0"/>
                <a:ea typeface="Roboto" charset="0"/>
                <a:cs typeface="Arial" pitchFamily="34" charset="0"/>
              </a:rPr>
              <a:t> </a:t>
            </a:r>
            <a:r>
              <a:rPr lang="ru-RU" sz="1500" dirty="0" smtClean="0">
                <a:solidFill>
                  <a:schemeClr val="tx1"/>
                </a:solidFill>
                <a:latin typeface="Arial" pitchFamily="34" charset="0"/>
                <a:ea typeface="Roboto" charset="0"/>
                <a:cs typeface="Arial" pitchFamily="34" charset="0"/>
              </a:rPr>
              <a:t>- Реализация локального хранилища JSON.</a:t>
            </a:r>
            <a:endParaRPr lang="en-US" sz="1500" dirty="0" smtClean="0">
              <a:solidFill>
                <a:schemeClr val="tx1"/>
              </a:solidFill>
              <a:latin typeface="Arial" pitchFamily="34" charset="0"/>
              <a:ea typeface="Roboto" charset="0"/>
              <a:cs typeface="Arial" pitchFamily="34" charset="0"/>
            </a:endParaRPr>
          </a:p>
          <a:p>
            <a:pPr lvl="0">
              <a:lnSpc>
                <a:spcPct val="140000"/>
              </a:lnSpc>
            </a:pPr>
            <a:r>
              <a:rPr lang="en-US" sz="1500" dirty="0" smtClean="0">
                <a:solidFill>
                  <a:schemeClr val="tx1"/>
                </a:solidFill>
                <a:latin typeface="Arial" pitchFamily="34" charset="0"/>
                <a:ea typeface="Roboto" charset="0"/>
                <a:cs typeface="Arial" pitchFamily="34" charset="0"/>
              </a:rPr>
              <a:t> </a:t>
            </a:r>
            <a:r>
              <a:rPr lang="ru-RU" sz="1500" dirty="0" smtClean="0">
                <a:solidFill>
                  <a:schemeClr val="tx1"/>
                </a:solidFill>
                <a:latin typeface="Arial" pitchFamily="34" charset="0"/>
                <a:ea typeface="Roboto" charset="0"/>
                <a:cs typeface="Arial" pitchFamily="34" charset="0"/>
              </a:rPr>
              <a:t>- Разработка блочного редактора контента.</a:t>
            </a:r>
            <a:endParaRPr lang="en-US" sz="1500" dirty="0" smtClean="0">
              <a:solidFill>
                <a:schemeClr val="tx1"/>
              </a:solidFill>
              <a:latin typeface="Arial" pitchFamily="34" charset="0"/>
              <a:ea typeface="Roboto" charset="0"/>
              <a:cs typeface="Arial" pitchFamily="34" charset="0"/>
            </a:endParaRPr>
          </a:p>
          <a:p>
            <a:pPr lvl="0">
              <a:lnSpc>
                <a:spcPct val="140000"/>
              </a:lnSpc>
            </a:pPr>
            <a:r>
              <a:rPr lang="en-US" sz="1500" dirty="0" smtClean="0">
                <a:solidFill>
                  <a:schemeClr val="tx1"/>
                </a:solidFill>
                <a:latin typeface="Arial" pitchFamily="34" charset="0"/>
                <a:ea typeface="Roboto" charset="0"/>
                <a:cs typeface="Arial" pitchFamily="34" charset="0"/>
              </a:rPr>
              <a:t> </a:t>
            </a:r>
            <a:r>
              <a:rPr lang="ru-RU" sz="1500" dirty="0" smtClean="0">
                <a:solidFill>
                  <a:schemeClr val="tx1"/>
                </a:solidFill>
                <a:latin typeface="Arial" pitchFamily="34" charset="0"/>
                <a:ea typeface="Roboto" charset="0"/>
                <a:cs typeface="Arial" pitchFamily="34" charset="0"/>
              </a:rPr>
              <a:t>- Создание интерактивной системы стикеров.</a:t>
            </a:r>
            <a:endParaRPr lang="en-US" sz="1500" dirty="0" smtClean="0">
              <a:solidFill>
                <a:schemeClr val="tx1"/>
              </a:solidFill>
              <a:latin typeface="Arial" pitchFamily="34" charset="0"/>
              <a:ea typeface="Roboto" charset="0"/>
              <a:cs typeface="Arial" pitchFamily="34" charset="0"/>
            </a:endParaRPr>
          </a:p>
          <a:p>
            <a:pPr lvl="0">
              <a:lnSpc>
                <a:spcPct val="140000"/>
              </a:lnSpc>
            </a:pPr>
            <a:r>
              <a:rPr lang="en-US" sz="1500" dirty="0" smtClean="0">
                <a:solidFill>
                  <a:schemeClr val="tx1"/>
                </a:solidFill>
                <a:latin typeface="Arial" pitchFamily="34" charset="0"/>
                <a:ea typeface="Roboto" charset="0"/>
                <a:cs typeface="Arial" pitchFamily="34" charset="0"/>
              </a:rPr>
              <a:t> </a:t>
            </a:r>
            <a:r>
              <a:rPr lang="ru-RU" sz="1500" dirty="0" smtClean="0">
                <a:solidFill>
                  <a:schemeClr val="tx1"/>
                </a:solidFill>
                <a:latin typeface="Arial" pitchFamily="34" charset="0"/>
                <a:ea typeface="Roboto" charset="0"/>
                <a:cs typeface="Arial" pitchFamily="34" charset="0"/>
              </a:rPr>
              <a:t>- Интеграция системы тем и локализации.</a:t>
            </a:r>
            <a:endParaRPr sz="1500">
              <a:solidFill>
                <a:schemeClr val="tx1"/>
              </a:solidFill>
              <a:latin typeface="Arial" pitchFamily="34" charset="0"/>
              <a:ea typeface="Roboto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/>
        </p:nvSpPr>
        <p:spPr>
          <a:xfrm>
            <a:off x="548640" y="523702"/>
            <a:ext cx="1133813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 smtClean="0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Описание</a:t>
            </a:r>
            <a:r>
              <a:rPr lang="en-US" sz="2700" b="1" i="0" u="none" strike="noStrike" cap="none" dirty="0" smtClean="0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 </a:t>
            </a:r>
            <a:r>
              <a:rPr lang="en-US" sz="2700" b="1" i="0" u="none" strike="noStrike" cap="none" dirty="0" err="1" smtClean="0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предметной</a:t>
            </a:r>
            <a:r>
              <a:rPr lang="en-US" sz="2700" b="1" i="0" u="none" strike="noStrike" cap="none" dirty="0" smtClean="0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 </a:t>
            </a:r>
            <a:r>
              <a:rPr lang="en-US" sz="2700" b="1" i="0" u="none" strike="noStrike" cap="none" dirty="0" err="1" smtClean="0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области</a:t>
            </a:r>
            <a:endParaRPr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2712" y="1812175"/>
            <a:ext cx="5412452" cy="29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ru-RU" sz="1500" dirty="0" smtClean="0">
                <a:solidFill>
                  <a:schemeClr val="tx1"/>
                </a:solidFill>
              </a:rPr>
              <a:t>Ведение личного дневника </a:t>
            </a:r>
            <a:r>
              <a:rPr lang="en-US" sz="1500" dirty="0" smtClean="0">
                <a:solidFill>
                  <a:schemeClr val="tx1"/>
                </a:solidFill>
              </a:rPr>
              <a:t>-</a:t>
            </a:r>
            <a:r>
              <a:rPr lang="ru-RU" sz="1500" dirty="0" smtClean="0">
                <a:solidFill>
                  <a:schemeClr val="tx1"/>
                </a:solidFill>
              </a:rPr>
              <a:t> это важный инструмент психологической разгрузки и саморазвития. Современные пользователи нуждаются в безопасном, приватном и творческом цифровом пространстве.</a:t>
            </a:r>
            <a:br>
              <a:rPr lang="ru-RU" sz="1500" dirty="0" smtClean="0">
                <a:solidFill>
                  <a:schemeClr val="tx1"/>
                </a:solidFill>
              </a:rPr>
            </a:br>
            <a:r>
              <a:rPr lang="ru-RU" sz="1500" dirty="0" smtClean="0">
                <a:solidFill>
                  <a:schemeClr val="tx1"/>
                </a:solidFill>
              </a:rPr>
              <a:t/>
            </a:r>
            <a:br>
              <a:rPr lang="ru-RU" sz="1500" dirty="0" smtClean="0">
                <a:solidFill>
                  <a:schemeClr val="tx1"/>
                </a:solidFill>
              </a:rPr>
            </a:br>
            <a:r>
              <a:rPr lang="ru-RU" sz="1500" dirty="0" err="1" smtClean="0">
                <a:solidFill>
                  <a:schemeClr val="tx1"/>
                </a:solidFill>
              </a:rPr>
              <a:t>My</a:t>
            </a:r>
            <a:r>
              <a:rPr lang="ru-RU" sz="1500" dirty="0" smtClean="0">
                <a:solidFill>
                  <a:schemeClr val="tx1"/>
                </a:solidFill>
              </a:rPr>
              <a:t> </a:t>
            </a:r>
            <a:r>
              <a:rPr lang="ru-RU" sz="1500" dirty="0" err="1" smtClean="0">
                <a:solidFill>
                  <a:schemeClr val="tx1"/>
                </a:solidFill>
              </a:rPr>
              <a:t>Diary</a:t>
            </a:r>
            <a:r>
              <a:rPr lang="ru-RU" sz="1500" dirty="0" smtClean="0">
                <a:solidFill>
                  <a:schemeClr val="tx1"/>
                </a:solidFill>
              </a:rPr>
              <a:t> решает проблемы приватности, работая полностью автономно (</a:t>
            </a:r>
            <a:r>
              <a:rPr lang="ru-RU" sz="1500" dirty="0" err="1" smtClean="0">
                <a:solidFill>
                  <a:schemeClr val="tx1"/>
                </a:solidFill>
              </a:rPr>
              <a:t>offline-first</a:t>
            </a:r>
            <a:r>
              <a:rPr lang="ru-RU" sz="1500" dirty="0" smtClean="0">
                <a:solidFill>
                  <a:schemeClr val="tx1"/>
                </a:solidFill>
              </a:rPr>
              <a:t>), и предоставляет уникальные возможности визуального оформления мыслей с помощью стикеров и фото-блоков</a:t>
            </a:r>
            <a:endParaRPr sz="15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/>
        </p:nvSpPr>
        <p:spPr>
          <a:xfrm>
            <a:off x="723206" y="465513"/>
            <a:ext cx="1116356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Инструментальные</a:t>
            </a:r>
            <a:r>
              <a:rPr lang="en-US" sz="2700" b="1" i="0" u="none" strike="noStrike" cap="none" dirty="0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 </a:t>
            </a:r>
            <a:r>
              <a:rPr lang="en-US" sz="2700" b="1" i="0" u="none" strike="noStrike" cap="none" dirty="0" err="1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средства</a:t>
            </a:r>
            <a:r>
              <a:rPr lang="en-US" sz="2700" b="1" i="0" u="none" strike="noStrike" cap="none" dirty="0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 </a:t>
            </a:r>
            <a:r>
              <a:rPr lang="en-US" sz="2700" b="1" i="0" u="none" strike="noStrike" cap="none" dirty="0" err="1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разработки</a:t>
            </a:r>
            <a:endParaRPr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graphicFrame>
        <p:nvGraphicFramePr>
          <p:cNvPr id="124" name="Google Shape;124;p16"/>
          <p:cNvGraphicFramePr/>
          <p:nvPr/>
        </p:nvGraphicFramePr>
        <p:xfrm>
          <a:off x="581025" y="2043112"/>
          <a:ext cx="11020425" cy="3159125"/>
        </p:xfrm>
        <a:graphic>
          <a:graphicData uri="http://schemas.openxmlformats.org/drawingml/2006/table">
            <a:tbl>
              <a:tblPr firstRow="1" bandRow="1">
                <a:noFill/>
                <a:tableStyleId>{35C4AC55-5D1E-4597-BDF1-AA6051E4D528}</a:tableStyleId>
              </a:tblPr>
              <a:tblGrid>
                <a:gridCol w="4623500"/>
                <a:gridCol w="3231200"/>
                <a:gridCol w="3165725"/>
              </a:tblGrid>
              <a:tr h="63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Этап</a:t>
                      </a:r>
                      <a:endParaRPr>
                        <a:solidFill>
                          <a:srgbClr val="FFA709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Изображение</a:t>
                      </a:r>
                      <a:r>
                        <a:rPr lang="en-US" sz="1500" b="1" i="0" u="none" strike="noStrike" cap="none" dirty="0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</a:t>
                      </a:r>
                      <a:r>
                        <a:rPr lang="en-US" sz="1500" b="1" i="0" u="none" strike="noStrike" cap="none" dirty="0" err="1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логотип</a:t>
                      </a:r>
                      <a:r>
                        <a:rPr lang="en-US" sz="1500" b="1" i="0" u="none" strike="noStrike" cap="none" dirty="0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>
                        <a:solidFill>
                          <a:srgbClr val="FFA709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</a:t>
                      </a:r>
                      <a:r>
                        <a:rPr lang="en-US" sz="1500" b="1" i="0" u="none" strike="noStrike" cap="none" dirty="0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инструмента</a:t>
                      </a:r>
                      <a:endParaRPr>
                        <a:solidFill>
                          <a:srgbClr val="FFA709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b="0" i="0" u="none" strike="noStrike" cap="none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</a:t>
                      </a:r>
                      <a:r>
                        <a:rPr lang="en-US" sz="1500" b="0" i="0" u="none" strike="noStrike" cap="none" dirty="0" err="1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роектирование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UML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b="0" i="0" u="none" strike="noStrike" cap="none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Разработка интерфейса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Flutter Framework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b="0" i="0" u="none" strike="noStrike" cap="none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Язык и среда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Dart / VS Code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b="0" i="0" u="none" strike="noStrike" cap="none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Хранение данных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SharedPreferences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</a:tr>
            </a:tbl>
          </a:graphicData>
        </a:graphic>
      </p:graphicFrame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2225" y="2674925"/>
            <a:ext cx="631825" cy="63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5600" y="3306806"/>
            <a:ext cx="631824" cy="63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8850" y="3938633"/>
            <a:ext cx="631825" cy="63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623455" y="498763"/>
            <a:ext cx="1126332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Тестирование</a:t>
            </a:r>
            <a:r>
              <a:rPr lang="en-US" sz="27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 ПП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81025" y="1479665"/>
            <a:ext cx="55908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Функциональное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 </a:t>
            </a:r>
            <a:r>
              <a:rPr lang="en-US" sz="1500" b="1" i="0" u="none" strike="noStrike" cap="none" dirty="0" err="1" smtClean="0">
                <a:solidFill>
                  <a:srgbClr val="FFA709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тестирование</a:t>
            </a:r>
            <a:r>
              <a:rPr lang="en-US" sz="1500" b="1" dirty="0" smtClean="0">
                <a:solidFill>
                  <a:srgbClr val="FFA709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:</a:t>
            </a:r>
            <a:endParaRPr sz="1500">
              <a:solidFill>
                <a:srgbClr val="FFA709"/>
              </a:solidFill>
              <a:latin typeface="Roboto" charset="0"/>
              <a:ea typeface="Roboto" charset="0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81025" y="1911927"/>
            <a:ext cx="4897062" cy="4179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В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процессе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разработки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было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проведено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ручное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автоматизированное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тестирование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основных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модулей</a:t>
            </a:r>
            <a:r>
              <a:rPr lang="en-US" sz="1500" b="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</a:p>
          <a:p>
            <a:pPr lvl="0">
              <a:lnSpc>
                <a:spcPct val="140000"/>
              </a:lnSpc>
            </a:pPr>
            <a:r>
              <a:rPr lang="en-US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Успешный тест </a:t>
            </a:r>
            <a:r>
              <a:rPr lang="ru-RU" sz="1500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сериализации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 данных </a:t>
            </a:r>
            <a:r>
              <a:rPr lang="ru-RU" sz="1500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BlockContent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 в JSON для сохранения в память;</a:t>
            </a:r>
            <a:b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</a:b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​</a:t>
            </a:r>
            <a:r>
              <a:rPr lang="en-US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</a:t>
            </a:r>
            <a:r>
              <a:rPr lang="ru-RU" sz="1500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Валидация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 создания записи </a:t>
            </a:r>
            <a:r>
              <a:rPr lang="ru-RU" sz="1500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DiaryEntry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;</a:t>
            </a:r>
            <a:b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</a:br>
            <a:r>
              <a:rPr lang="en-US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Проверка UI: блочный ввод текста, добавление фото и Drag &amp; Drop перемещение стикеров;</a:t>
            </a:r>
            <a:b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</a:b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​</a:t>
            </a:r>
            <a:r>
              <a:rPr lang="en-US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Проверка логики: сквозное автосохранение, </a:t>
            </a:r>
            <a:r>
              <a:rPr lang="ru-RU" sz="1500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real-time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 поиск и фильтрация по календарю;</a:t>
            </a:r>
            <a:b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</a:b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​</a:t>
            </a:r>
            <a:r>
              <a:rPr lang="en-US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Проверка настроек: моментальная смена 3 тем оформления и языков интерфейса.</a:t>
            </a:r>
            <a:endParaRPr lang="en-US" sz="1500" b="0" i="0" u="none" strike="noStrike" cap="none" dirty="0" smtClean="0">
              <a:solidFill>
                <a:schemeClr val="tx1"/>
              </a:solidFill>
              <a:latin typeface="Roboto" charset="0"/>
              <a:ea typeface="Roboto" charset="0"/>
              <a:cs typeface="Roboto"/>
              <a:sym typeface="Robo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7702462" y="2262176"/>
            <a:ext cx="25908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Скриншот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успешного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теста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031" name="Picture 7" descr="C:\Users\Milina\Desktop\photo_2026-05-27_02-31-18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26975" y="2790793"/>
            <a:ext cx="6076604" cy="94162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/>
        </p:nvSpPr>
        <p:spPr>
          <a:xfrm>
            <a:off x="305251" y="2736300"/>
            <a:ext cx="115815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Демонстрация</a:t>
            </a:r>
            <a:r>
              <a:rPr lang="en-US" sz="4400" b="1" i="0" u="none" strike="noStrike" cap="none" dirty="0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 </a:t>
            </a:r>
            <a:r>
              <a:rPr lang="en-US" sz="4400" b="1" i="0" u="none" strike="noStrike" cap="none" dirty="0" err="1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программного</a:t>
            </a:r>
            <a:r>
              <a:rPr lang="en-US" sz="4400" b="1" i="0" u="none" strike="noStrike" cap="none" dirty="0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 </a:t>
            </a:r>
            <a:r>
              <a:rPr lang="en-US" sz="4400" b="1" i="0" u="none" strike="noStrike" cap="none" dirty="0" err="1">
                <a:solidFill>
                  <a:schemeClr val="tx1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продукта</a:t>
            </a:r>
            <a:endParaRPr sz="120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/>
        </p:nvSpPr>
        <p:spPr>
          <a:xfrm>
            <a:off x="590204" y="548639"/>
            <a:ext cx="1129657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Вывод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581025" y="1554480"/>
            <a:ext cx="110301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В </a:t>
            </a:r>
            <a:r>
              <a:rPr lang="en-US" sz="150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ходе</a:t>
            </a:r>
            <a:r>
              <a:rPr lang="en-US" sz="150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проектной</a:t>
            </a:r>
            <a:r>
              <a:rPr lang="en-US" sz="150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работы</a:t>
            </a:r>
            <a:r>
              <a:rPr lang="en-US" sz="150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i="0" u="none" strike="noStrike" cap="none" dirty="0" err="1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был</a:t>
            </a:r>
            <a:r>
              <a:rPr lang="ru-RU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en-US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i="0" u="none" strike="noStrike" cap="none" dirty="0" err="1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разработан</a:t>
            </a:r>
            <a:r>
              <a:rPr lang="ru-RU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en-US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i="0" u="none" strike="noStrike" cap="none" dirty="0" err="1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полноценн</a:t>
            </a:r>
            <a:r>
              <a:rPr lang="ru-RU" sz="1500" i="0" u="none" strike="noStrike" cap="none" dirty="0" err="1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ое</a:t>
            </a:r>
            <a:r>
              <a:rPr lang="ru-RU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500" i="0" u="none" strike="noStrike" cap="none" dirty="0" err="1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кроссплатформанное</a:t>
            </a:r>
            <a:r>
              <a:rPr lang="ru-RU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приложение </a:t>
            </a:r>
          </a:p>
          <a:p>
            <a:pPr marL="0" marR="0" lvl="0" indent="0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«</a:t>
            </a:r>
            <a:r>
              <a:rPr lang="en-US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My Diary</a:t>
            </a:r>
            <a:r>
              <a:rPr lang="ru-RU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».</a:t>
            </a:r>
          </a:p>
          <a:p>
            <a:pPr marL="0" marR="0" lvl="0" indent="0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В результате все цели достигнуты.</a:t>
            </a:r>
            <a:r>
              <a:rPr lang="ru-RU" sz="1500" b="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500">
              <a:solidFill>
                <a:srgbClr val="1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Другая 2">
      <a:dk1>
        <a:srgbClr val="00001A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204</Words>
  <PresentationFormat>Произвольный</PresentationFormat>
  <Paragraphs>42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Roboto</vt:lpstr>
      <vt:lpstr>Calibri</vt:lpstr>
      <vt:lpstr>Merriweather</vt:lpstr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Serusew *</dc:creator>
  <cp:lastModifiedBy>Milina Aoki</cp:lastModifiedBy>
  <cp:revision>14</cp:revision>
  <dcterms:modified xsi:type="dcterms:W3CDTF">2026-05-26T18:39:52Z</dcterms:modified>
</cp:coreProperties>
</file>