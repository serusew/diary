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8" r:id="rId6"/>
    <p:sldId id="269" r:id="rId7"/>
    <p:sldId id="267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Roboto" charset="0"/>
      <p:regular r:id="rId13"/>
      <p:bold r:id="rId14"/>
      <p:italic r:id="rId15"/>
      <p:boldItalic r:id="rId16"/>
    </p:embeddedFon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Merriweather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709"/>
    <a:srgbClr val="04062A"/>
    <a:srgbClr val="030048"/>
    <a:srgbClr val="FF8409"/>
  </p:clrMru>
</p:presentationPr>
</file>

<file path=ppt/tableStyles.xml><?xml version="1.0" encoding="utf-8"?>
<a:tblStyleLst xmlns:a="http://schemas.openxmlformats.org/drawingml/2006/main" def="{35C4AC55-5D1E-4597-BDF1-AA6051E4D528}">
  <a:tblStyle styleId="{35C4AC55-5D1E-4597-BDF1-AA6051E4D52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2" autoAdjust="0"/>
    <p:restoredTop sz="94609" autoAdjust="0"/>
  </p:normalViewPr>
  <p:slideViewPr>
    <p:cSldViewPr snapToGrid="0">
      <p:cViewPr varScale="1">
        <p:scale>
          <a:sx n="115" d="100"/>
          <a:sy n="115" d="100"/>
        </p:scale>
        <p:origin x="-39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81025" y="390525"/>
            <a:ext cx="110299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АВТОНОМНАЯ НЕКОММЕРЧЕСКАЯ ОРГАНИЗАЦИЯ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ПРОФЕССИОНАЛЬНАЯ ОБРАЗОВАТЕЛЬНАЯ ОРГАНИЗАЦИЯ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МОСКОВСКИЙ МЕЖДУНАРОДНЫЙ КОЛЛЕДЖ ЦИФРОВЫХ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ТЕХНОЛОГИЙ «АКАДЕМИЯ ТОП»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81025" y="1952625"/>
            <a:ext cx="11029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2362200"/>
            <a:ext cx="110299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50" b="1" dirty="0" smtClean="0">
                <a:solidFill>
                  <a:srgbClr val="FFA709"/>
                </a:solidFill>
                <a:latin typeface="Roboto"/>
                <a:ea typeface="Roboto"/>
                <a:cs typeface="Roboto"/>
                <a:sym typeface="Roboto"/>
              </a:rPr>
              <a:t>Кроссплатформенное приложение «</a:t>
            </a:r>
            <a:r>
              <a:rPr lang="en-US" sz="2550" b="1" dirty="0" smtClean="0">
                <a:solidFill>
                  <a:srgbClr val="FFA709"/>
                </a:solidFill>
                <a:latin typeface="Roboto"/>
                <a:ea typeface="Roboto"/>
                <a:cs typeface="Roboto"/>
                <a:sym typeface="Roboto"/>
              </a:rPr>
              <a:t>My Diary</a:t>
            </a:r>
            <a:r>
              <a:rPr lang="ru-RU" sz="2550" b="1" dirty="0" smtClean="0">
                <a:solidFill>
                  <a:srgbClr val="FFA709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>
              <a:solidFill>
                <a:srgbClr val="FFA709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6286500"/>
            <a:ext cx="110299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Иркутск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938655" y="4533900"/>
            <a:ext cx="41547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Выполнил</a:t>
            </a:r>
            <a:r>
              <a:rPr lang="ru-RU" sz="1500" b="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а</a:t>
            </a:r>
            <a:r>
              <a:rPr lang="en-US" sz="1500" b="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-RU" sz="1500" b="1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Рощинина Милена 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Вячеславовна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938654" y="4891346"/>
            <a:ext cx="366400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u="none" strike="noStrike" cap="none" dirty="0" smtClean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Группа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5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РПО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946966" y="5536276"/>
            <a:ext cx="424503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Руководитель: </a:t>
            </a:r>
            <a:r>
              <a:rPr lang="en-US" sz="15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Концевич Андрей Алексеевич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556953" y="498763"/>
            <a:ext cx="1132982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Цель</a:t>
            </a:r>
            <a:r>
              <a:rPr lang="en-US" sz="2700" b="1" i="0" u="none" strike="noStrike" cap="none" dirty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, </a:t>
            </a:r>
            <a:r>
              <a:rPr lang="en-US" sz="2700" b="1" i="0" u="none" strike="noStrike" cap="none" dirty="0" err="1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задачи</a:t>
            </a:r>
            <a:r>
              <a:rPr lang="en-US" sz="2700" b="1" i="0" u="none" strike="noStrike" cap="none" dirty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 </a:t>
            </a:r>
            <a:r>
              <a:rPr lang="en-US" sz="2700" b="1" i="0" u="none" strike="noStrike" cap="none" dirty="0" err="1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проектного</a:t>
            </a:r>
            <a:r>
              <a:rPr lang="en-US" sz="2700" b="1" i="0" u="none" strike="noStrike" cap="none" dirty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 </a:t>
            </a:r>
            <a:r>
              <a:rPr lang="en-US" sz="2700" b="1" i="0" u="none" strike="noStrike" cap="none" dirty="0" err="1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проектирования</a:t>
            </a:r>
            <a:endParaRPr>
              <a:solidFill>
                <a:schemeClr val="tx1"/>
              </a:solidFill>
              <a:latin typeface="Merriweather" charset="0"/>
              <a:ea typeface="Merriweather" charset="0"/>
              <a:cs typeface="Merriweather" charset="0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64400" y="1702377"/>
            <a:ext cx="1102995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Цель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проектного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проектирования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: </a:t>
            </a:r>
            <a:endParaRPr lang="ru-RU" sz="1500" b="1" i="0" u="none" strike="noStrike" cap="none" dirty="0" smtClean="0">
              <a:solidFill>
                <a:srgbClr val="FFA709"/>
              </a:solidFill>
              <a:latin typeface="Roboto" charset="0"/>
              <a:ea typeface="Roboto" charset="0"/>
              <a:cs typeface="Arial" pitchFamily="34" charset="0"/>
              <a:sym typeface="Roboto"/>
            </a:endParaRPr>
          </a:p>
          <a:p>
            <a:pPr lvl="0">
              <a:lnSpc>
                <a:spcPct val="140000"/>
              </a:lnSpc>
            </a:pP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Создание автономного программного комплекса для автоматизации процесса ведения личных записей.</a:t>
            </a:r>
            <a:endParaRPr sz="1500">
              <a:solidFill>
                <a:schemeClr val="tx1"/>
              </a:solidFill>
              <a:latin typeface="Roboto" charset="0"/>
              <a:ea typeface="Roboto" charset="0"/>
              <a:cs typeface="Arial" pitchFamily="34" charset="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64400" y="2585258"/>
            <a:ext cx="11029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Задачи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проектного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проектирования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Arial" pitchFamily="34" charset="0"/>
                <a:sym typeface="Roboto"/>
              </a:rPr>
              <a:t>:</a:t>
            </a:r>
            <a:endParaRPr>
              <a:solidFill>
                <a:srgbClr val="FFA709"/>
              </a:solidFill>
              <a:latin typeface="Roboto" charset="0"/>
              <a:ea typeface="Roboto" charset="0"/>
              <a:cs typeface="Arial" pitchFamily="34" charset="0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11382" y="2984269"/>
            <a:ext cx="10574655" cy="163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lvl="2">
              <a:lnSpc>
                <a:spcPct val="140000"/>
              </a:lnSpc>
            </a:pP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ru-RU" sz="16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</a:t>
            </a:r>
            <a:r>
              <a:rPr lang="en-US" sz="16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Проектирование UI на базе </a:t>
            </a:r>
            <a:r>
              <a:rPr lang="ru-RU" sz="1500" dirty="0" err="1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Flutter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.</a:t>
            </a:r>
            <a:endParaRPr lang="en-US" sz="1500" dirty="0" smtClean="0">
              <a:solidFill>
                <a:schemeClr val="tx1"/>
              </a:solidFill>
              <a:latin typeface="Roboto" charset="0"/>
              <a:ea typeface="Roboto" charset="0"/>
              <a:cs typeface="Arial" pitchFamily="34" charset="0"/>
            </a:endParaRPr>
          </a:p>
          <a:p>
            <a:pPr lvl="0">
              <a:lnSpc>
                <a:spcPct val="140000"/>
              </a:lnSpc>
            </a:pP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- </a:t>
            </a: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Реализация локального хранилища JSON.</a:t>
            </a:r>
            <a:endParaRPr lang="en-US" sz="1500" dirty="0" smtClean="0">
              <a:solidFill>
                <a:schemeClr val="tx1"/>
              </a:solidFill>
              <a:latin typeface="Roboto" charset="0"/>
              <a:ea typeface="Roboto" charset="0"/>
              <a:cs typeface="Arial" pitchFamily="34" charset="0"/>
            </a:endParaRPr>
          </a:p>
          <a:p>
            <a:pPr lvl="0">
              <a:lnSpc>
                <a:spcPct val="140000"/>
              </a:lnSpc>
            </a:pP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- </a:t>
            </a: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Разработка блочного редактора контента.</a:t>
            </a:r>
            <a:endParaRPr lang="en-US" sz="1500" dirty="0" smtClean="0">
              <a:solidFill>
                <a:schemeClr val="tx1"/>
              </a:solidFill>
              <a:latin typeface="Roboto" charset="0"/>
              <a:ea typeface="Roboto" charset="0"/>
              <a:cs typeface="Arial" pitchFamily="34" charset="0"/>
            </a:endParaRPr>
          </a:p>
          <a:p>
            <a:pPr lvl="0">
              <a:lnSpc>
                <a:spcPct val="140000"/>
              </a:lnSpc>
            </a:pP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- </a:t>
            </a: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Создание интерактивной системы стикеров.</a:t>
            </a:r>
            <a:endParaRPr lang="en-US" sz="1500" dirty="0" smtClean="0">
              <a:solidFill>
                <a:schemeClr val="tx1"/>
              </a:solidFill>
              <a:latin typeface="Roboto" charset="0"/>
              <a:ea typeface="Roboto" charset="0"/>
              <a:cs typeface="Arial" pitchFamily="34" charset="0"/>
            </a:endParaRPr>
          </a:p>
          <a:p>
            <a:pPr lvl="0">
              <a:lnSpc>
                <a:spcPct val="140000"/>
              </a:lnSpc>
            </a:pP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- </a:t>
            </a:r>
            <a:r>
              <a:rPr lang="en-US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  <a:cs typeface="Arial" pitchFamily="34" charset="0"/>
              </a:rPr>
              <a:t>Интеграция системы тем и локализации.</a:t>
            </a:r>
            <a:endParaRPr sz="1500">
              <a:solidFill>
                <a:schemeClr val="tx1"/>
              </a:solidFill>
              <a:latin typeface="Roboto" charset="0"/>
              <a:ea typeface="Roboto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/>
        </p:nvSpPr>
        <p:spPr>
          <a:xfrm>
            <a:off x="548640" y="523702"/>
            <a:ext cx="1133813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 smtClean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Описание</a:t>
            </a:r>
            <a:r>
              <a:rPr lang="en-US" sz="2700" b="1" i="0" u="none" strike="noStrike" cap="none" dirty="0" smtClean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 </a:t>
            </a:r>
            <a:r>
              <a:rPr lang="en-US" sz="2700" b="1" i="0" u="none" strike="noStrike" cap="none" dirty="0" err="1" smtClean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предметной</a:t>
            </a:r>
            <a:r>
              <a:rPr lang="en-US" sz="2700" b="1" i="0" u="none" strike="noStrike" cap="none" dirty="0" smtClean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 </a:t>
            </a:r>
            <a:r>
              <a:rPr lang="en-US" sz="2700" b="1" i="0" u="none" strike="noStrike" cap="none" dirty="0" err="1" smtClean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области</a:t>
            </a:r>
            <a:endParaRPr>
              <a:solidFill>
                <a:schemeClr val="tx1"/>
              </a:solidFill>
              <a:latin typeface="Merriweather" charset="0"/>
              <a:ea typeface="Merriweather" charset="0"/>
              <a:cs typeface="Merriweather" charset="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2712" y="1812175"/>
            <a:ext cx="5412452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ru-RU" sz="1500" dirty="0" smtClean="0">
                <a:solidFill>
                  <a:srgbClr val="FFA709"/>
                </a:solidFill>
                <a:latin typeface="Roboto" charset="0"/>
                <a:ea typeface="Roboto" charset="0"/>
              </a:rPr>
              <a:t>Предметная область: </a:t>
            </a:r>
            <a:endParaRPr lang="en-US" sz="1500" dirty="0" smtClean="0">
              <a:solidFill>
                <a:srgbClr val="FFA709"/>
              </a:solidFill>
              <a:latin typeface="Roboto" charset="0"/>
              <a:ea typeface="Roboto" charset="0"/>
            </a:endParaRPr>
          </a:p>
          <a:p>
            <a:pPr lvl="0">
              <a:lnSpc>
                <a:spcPct val="140000"/>
              </a:lnSpc>
            </a:pP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Создание личного цифрового дневника для записей и самоанализа.</a:t>
            </a:r>
            <a:endParaRPr lang="en-US" sz="1500" dirty="0" smtClean="0">
              <a:solidFill>
                <a:schemeClr val="tx1"/>
              </a:solidFill>
              <a:latin typeface="Roboto" charset="0"/>
              <a:ea typeface="Roboto" charset="0"/>
            </a:endParaRPr>
          </a:p>
          <a:p>
            <a:pPr lvl="0">
              <a:lnSpc>
                <a:spcPct val="140000"/>
              </a:lnSpc>
            </a:pP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/>
            </a:r>
            <a:b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</a:b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​</a:t>
            </a:r>
            <a:r>
              <a:rPr lang="ru-RU" sz="1500" dirty="0" smtClean="0">
                <a:solidFill>
                  <a:srgbClr val="FFA709"/>
                </a:solidFill>
                <a:latin typeface="Roboto" charset="0"/>
                <a:ea typeface="Roboto" charset="0"/>
              </a:rPr>
              <a:t>Что делает приложение: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/>
            </a:r>
            <a:b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</a:b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​</a:t>
            </a:r>
            <a:endParaRPr sz="150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20189" y="3383281"/>
            <a:ext cx="4799215" cy="240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 </a:t>
            </a: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Помогает удобно вести заметки, добавляя в них фото и интерактивные стикеры.</a:t>
            </a:r>
            <a:b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</a:b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​</a:t>
            </a:r>
            <a:r>
              <a:rPr lang="en-US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 </a:t>
            </a: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Хранит все данные на устройстве и позволяет быстро находить нужные мысли.</a:t>
            </a:r>
            <a:b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</a:b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​</a:t>
            </a:r>
            <a:r>
              <a:rPr lang="en-US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 </a:t>
            </a: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Помогает следить за своим настроением с помощью встроенных эмодзи.</a:t>
            </a:r>
            <a:endParaRPr lang="en-US" dirty="0" smtClean="0">
              <a:solidFill>
                <a:schemeClr val="tx1"/>
              </a:solidFill>
              <a:latin typeface="Roboto" charset="0"/>
              <a:ea typeface="Roboto" charset="0"/>
            </a:endParaRPr>
          </a:p>
          <a:p>
            <a:pPr>
              <a:buFontTx/>
              <a:buChar char="-"/>
            </a:pPr>
            <a:endParaRPr lang="ru-RU" dirty="0"/>
          </a:p>
        </p:txBody>
      </p:sp>
      <p:pic>
        <p:nvPicPr>
          <p:cNvPr id="2052" name="Picture 4" descr="C:\Users\Milina\Downloads\rounded-in-photoretrica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98293" y="1621850"/>
            <a:ext cx="5356398" cy="403524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723206" y="465513"/>
            <a:ext cx="1116356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Инструментальные</a:t>
            </a:r>
            <a:r>
              <a:rPr lang="en-US" sz="2700" b="1" i="0" u="none" strike="noStrike" cap="none" dirty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 </a:t>
            </a:r>
            <a:r>
              <a:rPr lang="en-US" sz="2700" b="1" i="0" u="none" strike="noStrike" cap="none" dirty="0" err="1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средства</a:t>
            </a:r>
            <a:r>
              <a:rPr lang="en-US" sz="2700" b="1" i="0" u="none" strike="noStrike" cap="none" dirty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 </a:t>
            </a:r>
            <a:r>
              <a:rPr lang="en-US" sz="2700" b="1" i="0" u="none" strike="noStrike" cap="none" dirty="0" err="1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разработки</a:t>
            </a:r>
            <a:endParaRPr>
              <a:solidFill>
                <a:schemeClr val="tx1"/>
              </a:solidFill>
              <a:latin typeface="Merriweather" charset="0"/>
              <a:ea typeface="Merriweather" charset="0"/>
              <a:cs typeface="Merriweather" charset="0"/>
            </a:endParaRPr>
          </a:p>
        </p:txBody>
      </p:sp>
      <p:graphicFrame>
        <p:nvGraphicFramePr>
          <p:cNvPr id="124" name="Google Shape;124;p16"/>
          <p:cNvGraphicFramePr/>
          <p:nvPr/>
        </p:nvGraphicFramePr>
        <p:xfrm>
          <a:off x="581025" y="2043112"/>
          <a:ext cx="11020425" cy="3159125"/>
        </p:xfrm>
        <a:graphic>
          <a:graphicData uri="http://schemas.openxmlformats.org/drawingml/2006/table">
            <a:tbl>
              <a:tblPr firstRow="1" bandRow="1">
                <a:noFill/>
                <a:tableStyleId>{35C4AC55-5D1E-4597-BDF1-AA6051E4D528}</a:tableStyleId>
              </a:tblPr>
              <a:tblGrid>
                <a:gridCol w="4623500"/>
                <a:gridCol w="3231200"/>
                <a:gridCol w="3165725"/>
              </a:tblGrid>
              <a:tr h="63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Этап</a:t>
                      </a:r>
                      <a:endParaRPr>
                        <a:solidFill>
                          <a:srgbClr val="FFA709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Изображение</a:t>
                      </a:r>
                      <a:r>
                        <a:rPr lang="en-US" sz="1500" b="1" i="0" u="none" strike="noStrike" cap="none" dirty="0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</a:t>
                      </a:r>
                      <a:r>
                        <a:rPr lang="en-US" sz="1500" b="1" i="0" u="none" strike="noStrike" cap="none" dirty="0" err="1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логотип</a:t>
                      </a:r>
                      <a:r>
                        <a:rPr lang="en-US" sz="1500" b="1" i="0" u="none" strike="noStrike" cap="none" dirty="0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>
                        <a:solidFill>
                          <a:srgbClr val="FFA709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</a:t>
                      </a:r>
                      <a:r>
                        <a:rPr lang="en-US" sz="1500" b="1" i="0" u="none" strike="noStrike" cap="none" dirty="0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FFA7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инструмента</a:t>
                      </a:r>
                      <a:endParaRPr>
                        <a:solidFill>
                          <a:srgbClr val="FFA709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b="0" i="0" u="none" strike="noStrike" cap="none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</a:t>
                      </a:r>
                      <a:r>
                        <a:rPr lang="en-US" sz="1500" b="0" i="0" u="none" strike="noStrike" cap="none" dirty="0" err="1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роектирование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UML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b="0" i="0" u="none" strike="noStrike" cap="none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Разработка интерфейса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Flutter Framework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b="0" i="0" u="none" strike="noStrike" cap="none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Язык и среда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Dart / VS Code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b="0" i="0" u="none" strike="noStrike" cap="none" dirty="0" smtClean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Хранение данных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SharedPreferences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840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062A"/>
                    </a:solidFill>
                  </a:tcPr>
                </a:tc>
              </a:tr>
            </a:tbl>
          </a:graphicData>
        </a:graphic>
      </p:graphicFrame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225" y="2674925"/>
            <a:ext cx="631825" cy="63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5600" y="3306806"/>
            <a:ext cx="631824" cy="63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8850" y="3938633"/>
            <a:ext cx="631825" cy="6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723206" y="465513"/>
            <a:ext cx="1116356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00" b="1" dirty="0" smtClean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Проектирование программного продукта</a:t>
            </a:r>
            <a:endParaRPr>
              <a:solidFill>
                <a:schemeClr val="tx1"/>
              </a:solidFill>
              <a:latin typeface="Merriweather" charset="0"/>
              <a:ea typeface="Merriweather" charset="0"/>
              <a:cs typeface="Merriweather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23207" y="1571002"/>
            <a:ext cx="1072341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500" dirty="0" smtClean="0">
                <a:solidFill>
                  <a:srgbClr val="FFA709"/>
                </a:solidFill>
                <a:latin typeface="Roboto" charset="0"/>
                <a:ea typeface="Roboto" charset="0"/>
              </a:rPr>
              <a:t>Диаграмма вариантов использования                                                                                      Диаграмма деятельности</a:t>
            </a:r>
            <a:endParaRPr lang="ru-RU" sz="1500" dirty="0">
              <a:solidFill>
                <a:srgbClr val="FFA709"/>
              </a:solidFill>
              <a:latin typeface="Roboto" charset="0"/>
              <a:ea typeface="Roboto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172" y="2308485"/>
            <a:ext cx="6145472" cy="2371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55437" y="2318074"/>
            <a:ext cx="4738816" cy="2372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723206" y="465513"/>
            <a:ext cx="1116356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00" b="1" dirty="0" smtClean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Проектирование базы данных</a:t>
            </a:r>
            <a:endParaRPr>
              <a:solidFill>
                <a:schemeClr val="tx1"/>
              </a:solidFill>
              <a:latin typeface="Merriweather" charset="0"/>
              <a:ea typeface="Merriweather" charset="0"/>
              <a:cs typeface="Merriweather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23207" y="1571002"/>
            <a:ext cx="1072341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500" dirty="0" smtClean="0">
                <a:solidFill>
                  <a:srgbClr val="FFA709"/>
                </a:solidFill>
                <a:latin typeface="Roboto" charset="0"/>
                <a:ea typeface="Roboto" charset="0"/>
              </a:rPr>
              <a:t>Инфологическая модель                                                                                                                 </a:t>
            </a:r>
            <a:r>
              <a:rPr lang="en-US" sz="1500" dirty="0" smtClean="0">
                <a:solidFill>
                  <a:srgbClr val="FFA709"/>
                </a:solidFill>
                <a:latin typeface="Roboto" charset="0"/>
                <a:ea typeface="Roboto" charset="0"/>
              </a:rPr>
              <a:t>ER-</a:t>
            </a:r>
            <a:r>
              <a:rPr lang="ru-RU" sz="1500" dirty="0" smtClean="0">
                <a:solidFill>
                  <a:srgbClr val="FFA709"/>
                </a:solidFill>
                <a:latin typeface="Roboto" charset="0"/>
                <a:ea typeface="Roboto" charset="0"/>
              </a:rPr>
              <a:t>модель</a:t>
            </a:r>
            <a:endParaRPr lang="ru-RU" sz="1500" dirty="0">
              <a:solidFill>
                <a:srgbClr val="FFA709"/>
              </a:solidFill>
              <a:latin typeface="Roboto" charset="0"/>
              <a:ea typeface="Roboto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5730" y="2106208"/>
            <a:ext cx="5231567" cy="3111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8671" y="2110465"/>
            <a:ext cx="557212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15142" y="465513"/>
            <a:ext cx="756458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700" b="1" dirty="0" smtClean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Описание таблиц </a:t>
            </a:r>
            <a:r>
              <a:rPr lang="en-US" sz="2700" b="1" dirty="0" smtClean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ER-</a:t>
            </a:r>
            <a:r>
              <a:rPr lang="ru-RU" sz="2700" b="1" dirty="0" smtClean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модели</a:t>
            </a:r>
            <a:endParaRPr lang="ru-RU" sz="2700" b="1" dirty="0">
              <a:solidFill>
                <a:schemeClr val="tx1"/>
              </a:solidFill>
              <a:latin typeface="Merriweather" charset="0"/>
              <a:ea typeface="Merriweather" charset="0"/>
              <a:cs typeface="Merriweather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25259" y="2282381"/>
            <a:ext cx="3528024" cy="1700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74" y="5006714"/>
            <a:ext cx="5876158" cy="1475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7902" y="2278505"/>
            <a:ext cx="5836845" cy="1680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7140315" y="1109272"/>
            <a:ext cx="4731896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500" b="1" dirty="0" smtClean="0">
                <a:solidFill>
                  <a:srgbClr val="FFA709"/>
                </a:solidFill>
                <a:latin typeface="Roboto" charset="0"/>
                <a:ea typeface="Roboto" charset="0"/>
              </a:rPr>
              <a:t>Таблица </a:t>
            </a:r>
            <a:r>
              <a:rPr lang="ru-RU" sz="1500" b="1" dirty="0" err="1" smtClean="0">
                <a:solidFill>
                  <a:srgbClr val="FFA709"/>
                </a:solidFill>
                <a:latin typeface="Roboto" charset="0"/>
                <a:ea typeface="Roboto" charset="0"/>
              </a:rPr>
              <a:t>DiaryEntries</a:t>
            </a:r>
            <a:r>
              <a:rPr lang="ru-RU" sz="1500" b="1" dirty="0" smtClean="0">
                <a:solidFill>
                  <a:srgbClr val="FFA709"/>
                </a:solidFill>
                <a:latin typeface="Roboto" charset="0"/>
                <a:ea typeface="Roboto" charset="0"/>
              </a:rPr>
              <a:t>: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Основная таблица записей дневника. Хранит заголовок, дату создания и выбранное настроение.</a:t>
            </a:r>
            <a:endParaRPr lang="ru-RU" sz="15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4682" y="4096779"/>
            <a:ext cx="6096000" cy="7848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ru-RU" sz="1500" b="1" dirty="0" smtClean="0">
                <a:solidFill>
                  <a:srgbClr val="FFA709"/>
                </a:solidFill>
                <a:latin typeface="Roboto" charset="0"/>
                <a:ea typeface="Roboto" charset="0"/>
              </a:rPr>
              <a:t>Таблица </a:t>
            </a:r>
            <a:r>
              <a:rPr lang="ru-RU" sz="1500" b="1" dirty="0" err="1" smtClean="0">
                <a:solidFill>
                  <a:srgbClr val="FFA709"/>
                </a:solidFill>
                <a:latin typeface="Roboto" charset="0"/>
                <a:ea typeface="Roboto" charset="0"/>
              </a:rPr>
              <a:t>BlockContents</a:t>
            </a:r>
            <a:r>
              <a:rPr lang="ru-RU" sz="1500" b="1" dirty="0" smtClean="0">
                <a:solidFill>
                  <a:srgbClr val="FFA709"/>
                </a:solidFill>
                <a:latin typeface="Roboto" charset="0"/>
                <a:ea typeface="Roboto" charset="0"/>
              </a:rPr>
              <a:t>: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Реестр всех блоков контента. Связана с </a:t>
            </a:r>
            <a:r>
              <a:rPr lang="ru-RU" sz="1500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DiaryEntries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 отношением 1:M.</a:t>
            </a:r>
            <a:endParaRPr lang="ru-RU" sz="15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54701" y="1109272"/>
            <a:ext cx="6096000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500" b="1" dirty="0" smtClean="0">
                <a:solidFill>
                  <a:srgbClr val="FFA709"/>
                </a:solidFill>
                <a:latin typeface="Roboto" charset="0"/>
                <a:ea typeface="Roboto" charset="0"/>
              </a:rPr>
              <a:t>Таблица </a:t>
            </a:r>
            <a:r>
              <a:rPr lang="ru-RU" sz="1500" b="1" dirty="0" err="1" smtClean="0">
                <a:solidFill>
                  <a:srgbClr val="FFA709"/>
                </a:solidFill>
                <a:latin typeface="Roboto" charset="0"/>
                <a:ea typeface="Roboto" charset="0"/>
              </a:rPr>
              <a:t>PlacedStickers</a:t>
            </a:r>
            <a:r>
              <a:rPr lang="ru-RU" sz="1500" b="1" dirty="0" smtClean="0">
                <a:solidFill>
                  <a:srgbClr val="FFA709"/>
                </a:solidFill>
                <a:latin typeface="Roboto" charset="0"/>
                <a:ea typeface="Roboto" charset="0"/>
              </a:rPr>
              <a:t>: 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Данные о </a:t>
            </a:r>
            <a:r>
              <a:rPr lang="ru-RU" sz="1500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стикерах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, размещенных на холсте записи (координаты </a:t>
            </a:r>
            <a:r>
              <a:rPr lang="ru-RU" sz="1500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dx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/</a:t>
            </a:r>
            <a:r>
              <a:rPr lang="ru-RU" sz="1500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dy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). Связана с </a:t>
            </a:r>
            <a:r>
              <a:rPr lang="ru-RU" sz="1500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DiaryEntries</a:t>
            </a:r>
            <a:r>
              <a:rPr lang="ru-RU" sz="15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 отношением 1:M.</a:t>
            </a:r>
            <a:endParaRPr lang="ru-RU" sz="15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623455" y="498763"/>
            <a:ext cx="1126332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Тестирование</a:t>
            </a:r>
            <a:r>
              <a:rPr lang="en-US" sz="27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 ПП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81025" y="1479665"/>
            <a:ext cx="55908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A709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Функциональное</a:t>
            </a:r>
            <a:r>
              <a:rPr lang="en-US" sz="1500" b="1" i="0" u="none" strike="noStrike" cap="none" dirty="0">
                <a:solidFill>
                  <a:srgbClr val="FFA709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 </a:t>
            </a:r>
            <a:r>
              <a:rPr lang="en-US" sz="1500" b="1" i="0" u="none" strike="noStrike" cap="none" dirty="0" err="1" smtClean="0">
                <a:solidFill>
                  <a:srgbClr val="FFA709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тестирование</a:t>
            </a:r>
            <a:r>
              <a:rPr lang="en-US" sz="1500" b="1" dirty="0" smtClean="0">
                <a:solidFill>
                  <a:srgbClr val="FFA709"/>
                </a:solidFill>
                <a:latin typeface="Roboto" charset="0"/>
                <a:ea typeface="Roboto" charset="0"/>
                <a:cs typeface="Merriweather"/>
                <a:sym typeface="Merriweather"/>
              </a:rPr>
              <a:t>:</a:t>
            </a:r>
            <a:endParaRPr sz="1500">
              <a:solidFill>
                <a:srgbClr val="FFA709"/>
              </a:solidFill>
              <a:latin typeface="Roboto" charset="0"/>
              <a:ea typeface="Roboto" charset="0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81025" y="1911928"/>
            <a:ext cx="4897062" cy="127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процессе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разработки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было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проведено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ручное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автоматизированное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тестирование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основных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модулей</a:t>
            </a:r>
            <a:r>
              <a:rPr lang="en-US" sz="1500" b="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7702462" y="2262176"/>
            <a:ext cx="25908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Скриншот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успешного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теста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031" name="Picture 7" descr="C:\Users\Milina\Desktop\photo_2026-05-27_02-31-18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6975" y="2790793"/>
            <a:ext cx="6076604" cy="941621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897774" y="2890063"/>
            <a:ext cx="432261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 </a:t>
            </a: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Успешный тест </a:t>
            </a:r>
            <a:r>
              <a:rPr lang="ru-RU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сериализации</a:t>
            </a: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 данных </a:t>
            </a:r>
            <a:r>
              <a:rPr lang="ru-RU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BlockContent</a:t>
            </a: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 в JSON для сохранения в память;</a:t>
            </a:r>
            <a:b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</a:b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​</a:t>
            </a:r>
            <a:r>
              <a:rPr lang="en-US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 </a:t>
            </a:r>
            <a:r>
              <a:rPr lang="ru-RU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Валидация</a:t>
            </a: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 создания записи </a:t>
            </a:r>
            <a:r>
              <a:rPr lang="ru-RU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DiaryEntry</a:t>
            </a: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;</a:t>
            </a:r>
            <a:b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</a:br>
            <a:r>
              <a:rPr lang="en-US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 </a:t>
            </a: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Проверка UI: блочный ввод текста, добавление фото и Drag &amp; Drop перемещение стикеров;</a:t>
            </a:r>
            <a:b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</a:b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​</a:t>
            </a:r>
            <a:r>
              <a:rPr lang="en-US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 </a:t>
            </a: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Проверка логики: сквозное автосохранение, </a:t>
            </a:r>
            <a:r>
              <a:rPr lang="ru-RU" dirty="0" err="1" smtClean="0">
                <a:solidFill>
                  <a:schemeClr val="tx1"/>
                </a:solidFill>
                <a:latin typeface="Roboto" charset="0"/>
                <a:ea typeface="Roboto" charset="0"/>
              </a:rPr>
              <a:t>real-time</a:t>
            </a: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 поиск и фильтрация по календарю;</a:t>
            </a:r>
            <a:b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</a:b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​</a:t>
            </a:r>
            <a:r>
              <a:rPr lang="en-US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-  </a:t>
            </a:r>
            <a:r>
              <a:rPr lang="ru-RU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Проверка настроек: моментальная смена 3 тем оформления и языков интерфейса.</a:t>
            </a:r>
            <a:endParaRPr lang="en-US" dirty="0" smtClean="0">
              <a:solidFill>
                <a:schemeClr val="tx1"/>
              </a:solidFill>
              <a:latin typeface="Roboto" charset="0"/>
              <a:ea typeface="Roboto" charset="0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/>
        </p:nvSpPr>
        <p:spPr>
          <a:xfrm>
            <a:off x="305251" y="2736300"/>
            <a:ext cx="115815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Демонстрация</a:t>
            </a:r>
            <a:r>
              <a:rPr lang="en-US" sz="4400" b="1" i="0" u="none" strike="noStrike" cap="none" dirty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 </a:t>
            </a:r>
            <a:r>
              <a:rPr lang="en-US" sz="4400" b="1" i="0" u="none" strike="noStrike" cap="none" dirty="0" err="1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программного</a:t>
            </a:r>
            <a:r>
              <a:rPr lang="en-US" sz="4400" b="1" i="0" u="none" strike="noStrike" cap="none" dirty="0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 </a:t>
            </a:r>
            <a:r>
              <a:rPr lang="en-US" sz="4400" b="1" i="0" u="none" strike="noStrike" cap="none" dirty="0" err="1">
                <a:solidFill>
                  <a:schemeClr val="tx1"/>
                </a:solidFill>
                <a:latin typeface="Merriweather" charset="0"/>
                <a:ea typeface="Merriweather" charset="0"/>
                <a:cs typeface="Merriweather" charset="0"/>
                <a:sym typeface="Merriweather"/>
              </a:rPr>
              <a:t>продукта</a:t>
            </a:r>
            <a:endParaRPr sz="1200">
              <a:solidFill>
                <a:schemeClr val="tx1"/>
              </a:solidFill>
              <a:latin typeface="Merriweather" charset="0"/>
              <a:ea typeface="Merriweather" charset="0"/>
              <a:cs typeface="Merriweath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/>
        </p:nvSpPr>
        <p:spPr>
          <a:xfrm>
            <a:off x="590204" y="548639"/>
            <a:ext cx="1129657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Вывод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581025" y="1554480"/>
            <a:ext cx="110301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 </a:t>
            </a:r>
            <a:r>
              <a:rPr lang="en-US" sz="150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ходе</a:t>
            </a:r>
            <a:r>
              <a:rPr lang="en-US" sz="150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проектной</a:t>
            </a:r>
            <a:r>
              <a:rPr lang="en-US" sz="150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i="0" u="none" strike="noStrike" cap="none" dirty="0" err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работы</a:t>
            </a:r>
            <a:r>
              <a:rPr lang="en-US" sz="150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i="0" u="none" strike="noStrike" cap="none" dirty="0" err="1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был</a:t>
            </a:r>
            <a:r>
              <a:rPr lang="ru-RU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en-US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i="0" u="none" strike="noStrike" cap="none" dirty="0" err="1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разработан</a:t>
            </a:r>
            <a:r>
              <a:rPr lang="ru-RU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en-US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i="0" u="none" strike="noStrike" cap="none" dirty="0" err="1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полноценн</a:t>
            </a:r>
            <a:r>
              <a:rPr lang="ru-RU" sz="1500" i="0" u="none" strike="noStrike" cap="none" dirty="0" err="1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ое</a:t>
            </a:r>
            <a:r>
              <a:rPr lang="ru-RU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500" i="0" u="none" strike="noStrike" cap="none" dirty="0" err="1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кроссплатформанное</a:t>
            </a:r>
            <a:r>
              <a:rPr lang="ru-RU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приложение </a:t>
            </a:r>
          </a:p>
          <a:p>
            <a:pPr marL="0" marR="0" lvl="0" indent="0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«</a:t>
            </a:r>
            <a:r>
              <a:rPr lang="en-US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My Diary</a:t>
            </a:r>
            <a:r>
              <a:rPr lang="ru-RU" sz="150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».</a:t>
            </a:r>
          </a:p>
          <a:p>
            <a:pPr marL="0" marR="0" lvl="0" indent="0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В результате все цели достигнуты.</a:t>
            </a:r>
            <a:r>
              <a:rPr lang="ru-RU" sz="1500" b="0" i="0" u="none" strike="noStrike" cap="none" dirty="0" smtClean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500">
              <a:solidFill>
                <a:srgbClr val="1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Другая 2">
      <a:dk1>
        <a:srgbClr val="00001A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275</Words>
  <PresentationFormat>Произвольный</PresentationFormat>
  <Paragraphs>53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Roboto</vt:lpstr>
      <vt:lpstr>Calibri</vt:lpstr>
      <vt:lpstr>Merriweather</vt:lpstr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Serusew *</dc:creator>
  <cp:lastModifiedBy>Milina Aoki</cp:lastModifiedBy>
  <cp:revision>31</cp:revision>
  <dcterms:modified xsi:type="dcterms:W3CDTF">2026-06-24T17:42:33Z</dcterms:modified>
</cp:coreProperties>
</file>